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87867" y="639065"/>
            <a:ext cx="6492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800" b="1" i="0" noProof="0" dirty="0">
                <a:solidFill>
                  <a:srgbClr val="FFFFFF"/>
                </a:solidFill>
                <a:latin typeface="Calibri"/>
              </a:rPr>
              <a:t>Clasificación de Sentimientos
en Reseñas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2019809"/>
            <a:ext cx="44622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300" b="0" i="1" noProof="0" dirty="0">
                <a:solidFill>
                  <a:srgbClr val="B0C4DE"/>
                </a:solidFill>
                <a:latin typeface="Calibri"/>
              </a:rPr>
              <a:t>Modelo Hibrido DistilBERT + BiLSTM para Análisis de Opiniones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867" y="2376425"/>
            <a:ext cx="4141678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87867" y="2486153"/>
            <a:ext cx="41970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500" b="1" i="0" noProof="0" dirty="0">
                <a:solidFill>
                  <a:srgbClr val="FFFFFF"/>
                </a:solidFill>
                <a:latin typeface="Calibri"/>
              </a:rPr>
              <a:t>Diego Silva Madariaga  |  Bastian Cortez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867" y="2815337"/>
            <a:ext cx="4197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0" i="0" noProof="0" dirty="0">
                <a:solidFill>
                  <a:srgbClr val="B0C4DE"/>
                </a:solidFill>
                <a:latin typeface="Calibri"/>
              </a:rPr>
              <a:t>Prof. Jaime Andrés Jiménez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017" y="3139353"/>
            <a:ext cx="2565309" cy="774832"/>
          </a:xfrm>
          <a:prstGeom prst="rect">
            <a:avLst/>
          </a:prstGeom>
          <a:solidFill>
            <a:srgbClr val="10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61018" y="3225925"/>
            <a:ext cx="2407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050" noProof="0" dirty="0">
                <a:solidFill>
                  <a:srgbClr val="FFFFFF"/>
                </a:solidFill>
              </a:rPr>
              <a:t>Procesamiento de Lenguaje Natural</a:t>
            </a:r>
            <a:endParaRPr lang="es-CL" sz="1050" b="0" i="0" noProof="0" dirty="0">
              <a:solidFill>
                <a:srgbClr val="FFFF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L" sz="1050" b="0" i="0" noProof="0" dirty="0">
                <a:solidFill>
                  <a:srgbClr val="FFFFFF"/>
                </a:solidFill>
                <a:latin typeface="Calibri"/>
              </a:rPr>
              <a:t>Ing. Civil en Ciencia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050" noProof="0" dirty="0">
                <a:solidFill>
                  <a:srgbClr val="FFFFFF"/>
                </a:solidFill>
              </a:rPr>
              <a:t>1er Semestre 2026</a:t>
            </a:r>
          </a:p>
          <a:p>
            <a:pPr algn="l"/>
            <a:endParaRPr lang="es-CL" sz="1050" b="0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1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768C0F8-AF49-7B4D-4B76-4F1D97F3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564" y="96895"/>
            <a:ext cx="836428" cy="8364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dirty="0">
                <a:solidFill>
                  <a:srgbClr val="FFFFFF"/>
                </a:solidFill>
                <a:latin typeface="Calibri"/>
              </a:rPr>
              <a:t>Objetivo y desafíos</a:t>
            </a:r>
            <a:endParaRPr lang="es-CL" sz="20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Clasificación binaria de opinión en reseñas de anime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256032" y="868680"/>
            <a:ext cx="4206240" cy="16597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92608" y="880943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400" b="1" i="0" noProof="0" dirty="0">
                <a:solidFill>
                  <a:srgbClr val="1B3A6B"/>
                </a:solidFill>
                <a:latin typeface="Calibri"/>
              </a:rPr>
              <a:t>Definición del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4206240" cy="36576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292608" y="1319903"/>
            <a:ext cx="4036119" cy="11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s-CL" sz="1200" b="1" i="0" noProof="0" dirty="0">
                <a:solidFill>
                  <a:srgbClr val="00B050"/>
                </a:solidFill>
                <a:latin typeface="Calibri"/>
              </a:rPr>
              <a:t>Tarea de clasificación binaria supervisada</a:t>
            </a:r>
          </a:p>
          <a:p>
            <a:pPr algn="l">
              <a:spcBef>
                <a:spcPts val="400"/>
              </a:spcBef>
            </a:pPr>
            <a:r>
              <a:rPr lang="es-CL" sz="1200" b="1" i="0" noProof="0" dirty="0">
                <a:solidFill>
                  <a:srgbClr val="55657A"/>
                </a:solidFill>
                <a:latin typeface="Calibri"/>
              </a:rPr>
              <a:t>Dado </a:t>
            </a:r>
            <a:r>
              <a:rPr lang="es-CL" sz="1200" b="1" i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un texto x (reseña de anime), predecir y  {reseña positiva o negativa}</a:t>
            </a:r>
            <a:endParaRPr lang="es-CL" sz="1200" b="1" i="0" noProof="0" dirty="0">
              <a:solidFill>
                <a:srgbClr val="1B3A6B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lang="es-CL" sz="1200" b="1" i="0" noProof="0" dirty="0">
                <a:solidFill>
                  <a:srgbClr val="00B050"/>
                </a:solidFill>
                <a:latin typeface="Calibri"/>
              </a:rPr>
              <a:t>Fuente de datos</a:t>
            </a:r>
          </a:p>
          <a:p>
            <a:pPr algn="l">
              <a:spcBef>
                <a:spcPts val="300"/>
              </a:spcBef>
            </a:pPr>
            <a:r>
              <a:rPr lang="es-CL" sz="1200" b="1" i="0" noProof="0" dirty="0">
                <a:solidFill>
                  <a:srgbClr val="55657A"/>
                </a:solidFill>
                <a:latin typeface="Calibri"/>
              </a:rPr>
              <a:t>MyAnimeList (MAL), fuente de mi</a:t>
            </a:r>
            <a:r>
              <a:rPr lang="es-CL" sz="1200" b="1" dirty="0">
                <a:solidFill>
                  <a:srgbClr val="55657A"/>
                </a:solidFill>
                <a:latin typeface="Calibri"/>
              </a:rPr>
              <a:t>les </a:t>
            </a:r>
            <a:r>
              <a:rPr lang="es-CL" sz="1200" b="1" i="0" noProof="0" dirty="0">
                <a:solidFill>
                  <a:srgbClr val="55657A"/>
                </a:solidFill>
                <a:latin typeface="Calibri"/>
              </a:rPr>
              <a:t>de reseñas de usuarios.</a:t>
            </a:r>
            <a:endParaRPr lang="es-CL" sz="1200" b="0" i="0" noProof="0" dirty="0">
              <a:solidFill>
                <a:srgbClr val="5565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81728" y="868680"/>
            <a:ext cx="4206240" cy="29171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681728" y="890087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400" b="1" i="0" noProof="0" dirty="0">
                <a:solidFill>
                  <a:srgbClr val="1B3A6B"/>
                </a:solidFill>
                <a:latin typeface="Calibri"/>
              </a:rPr>
              <a:t>Desafíos del Dominio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1188720"/>
            <a:ext cx="4206240" cy="36576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/>
          <p:cNvSpPr/>
          <p:nvPr/>
        </p:nvSpPr>
        <p:spPr>
          <a:xfrm>
            <a:off x="4754880" y="1261872"/>
            <a:ext cx="4005072" cy="630745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828032" y="1307592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[</a:t>
            </a:r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Ironía</a:t>
            </a:r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298448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Ironía</a:t>
            </a:r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 y sarcasmo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554480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55657A"/>
                </a:solidFill>
                <a:latin typeface="Calibri"/>
              </a:rPr>
              <a:t>Sentido inverso  e ironía difícil de capturar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965578"/>
            <a:ext cx="4005072" cy="7772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4828032" y="201129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[</a:t>
            </a:r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Jerga</a:t>
            </a:r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002154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Jerga </a:t>
            </a:r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del</a:t>
            </a:r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 dominio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25818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55657A"/>
                </a:solidFill>
                <a:latin typeface="Calibri"/>
              </a:rPr>
              <a:t>Nombres de series, personajes y expresiones especificas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852546"/>
            <a:ext cx="4005072" cy="7772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828032" y="287612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[</a:t>
            </a:r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Sesgo</a:t>
            </a:r>
            <a:r>
              <a:rPr lang="es-CL" sz="900" b="1" i="0" noProof="0" dirty="0">
                <a:solidFill>
                  <a:srgbClr val="1B3A6B"/>
                </a:solidFill>
                <a:latin typeface="Calibri"/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889122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Sesgo positivo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145154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s-CL" sz="1200" b="1" dirty="0">
                <a:solidFill>
                  <a:srgbClr val="55657A"/>
                </a:solidFill>
              </a:rPr>
              <a:t>Las reseñas en MAL en general están sesgadas hacia calificaciones positivas.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2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91C25F3-7AC4-EE71-F526-C7DCC1FA9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64846"/>
            <a:ext cx="3733800" cy="2041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Dataset y Preprocesamiento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Recolección, limpieza y balanceo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429768" y="3910951"/>
            <a:ext cx="1938528" cy="8229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29768" y="3965815"/>
            <a:ext cx="1938528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1B3A6B"/>
                </a:solidFill>
                <a:latin typeface="Calibri"/>
              </a:rPr>
              <a:t>14,912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4363579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55657A"/>
                </a:solidFill>
                <a:latin typeface="Calibri"/>
              </a:rPr>
              <a:t>Reseñas totales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5456" y="3910951"/>
            <a:ext cx="1938528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505456" y="3965815"/>
            <a:ext cx="1938528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2E7D32"/>
                </a:solidFill>
                <a:latin typeface="Calibri"/>
              </a:rPr>
              <a:t>10,736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4363579"/>
            <a:ext cx="1938528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55657A"/>
                </a:solidFill>
                <a:latin typeface="Calibri"/>
              </a:rPr>
              <a:t>Train (72%)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1144" y="3910951"/>
            <a:ext cx="1938528" cy="8229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81144" y="3965815"/>
            <a:ext cx="1938528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1B3A6B"/>
                </a:solidFill>
                <a:latin typeface="Calibri"/>
              </a:rPr>
              <a:t>1,193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4363579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55657A"/>
                </a:solidFill>
                <a:latin typeface="Calibri"/>
              </a:rPr>
              <a:t>Validación (8%)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6832" y="3910951"/>
            <a:ext cx="1938528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656832" y="3965815"/>
            <a:ext cx="1938528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2E7D32"/>
                </a:solidFill>
                <a:latin typeface="Calibri"/>
              </a:rPr>
              <a:t>2,983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363579"/>
            <a:ext cx="1938528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55657A"/>
                </a:solidFill>
                <a:latin typeface="Calibri"/>
              </a:rPr>
              <a:t>Test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26" y="941421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1. Recolección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" y="1197864"/>
            <a:ext cx="3200400" cy="7315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01168" y="1203983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scraper_mal.py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1378733"/>
            <a:ext cx="31455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Reseñas generales de MyAnimeList.
Se extrajeron un </a:t>
            </a:r>
            <a:r>
              <a:rPr lang="es-CL" sz="1100" b="1" i="0" noProof="0" dirty="0" err="1">
                <a:solidFill>
                  <a:srgbClr val="1A1A2E"/>
                </a:solidFill>
                <a:latin typeface="Calibri"/>
              </a:rPr>
              <a:t>aprox</a:t>
            </a: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 de 50000 reseñas desbalanceadas.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" y="2011680"/>
            <a:ext cx="320040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01168" y="2017224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8B0000"/>
                </a:solidFill>
                <a:latin typeface="Calibri"/>
              </a:rPr>
              <a:t>scraper_negativos.py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2223236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Muestreo estratégico de reseñas negativas. mitiga el sesgo positivo natural del las reseñas.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95545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2. Limpieza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990487"/>
            <a:ext cx="235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3. Balanceo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243584"/>
            <a:ext cx="2331720" cy="53035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565392" y="1271016"/>
            <a:ext cx="2176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8B0000"/>
                </a:solidFill>
                <a:latin typeface="Calibri"/>
              </a:rPr>
              <a:t>ANTES — Sesgado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453896"/>
            <a:ext cx="2176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50" b="1" i="0" noProof="0" dirty="0">
                <a:solidFill>
                  <a:srgbClr val="55657A"/>
                </a:solidFill>
                <a:latin typeface="Calibri"/>
              </a:rPr>
              <a:t>~</a:t>
            </a:r>
            <a:r>
              <a:rPr lang="es-CL" sz="1100" b="1" dirty="0">
                <a:solidFill>
                  <a:srgbClr val="55657A"/>
                </a:solidFill>
                <a:latin typeface="Calibri"/>
              </a:rPr>
              <a:t>91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% Positivas / ~</a:t>
            </a:r>
            <a:r>
              <a:rPr lang="es-CL" sz="1100" b="1" dirty="0">
                <a:solidFill>
                  <a:srgbClr val="55657A"/>
                </a:solidFill>
                <a:latin typeface="Calibri"/>
              </a:rPr>
              <a:t>9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% Negativas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1856232"/>
            <a:ext cx="2331720" cy="4572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Rectangle 36"/>
          <p:cNvSpPr/>
          <p:nvPr/>
        </p:nvSpPr>
        <p:spPr>
          <a:xfrm>
            <a:off x="6492240" y="1993392"/>
            <a:ext cx="233172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565392" y="2020824"/>
            <a:ext cx="2176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2E7D32"/>
                </a:solidFill>
                <a:latin typeface="Calibri"/>
              </a:rPr>
              <a:t>DESPUES — Equilibrado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203704"/>
            <a:ext cx="2176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50% Positivas / 50% Negativas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" y="2889503"/>
            <a:ext cx="8631936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" y="2926079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Por que balancear?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145536"/>
            <a:ext cx="8321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Con un dataset desbalanceado el modelo puede lograr alta Accuracy prediciendo siempre la clase mayoritaria. El balanceo 50/50 garantiza que F1, Precisión y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Recall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reflejen el rendimiento real.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7224" y="4443983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3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4B0D5039-9D25-6608-CFBD-46FCABDB716B}"/>
              </a:ext>
            </a:extLst>
          </p:cNvPr>
          <p:cNvSpPr/>
          <p:nvPr/>
        </p:nvSpPr>
        <p:spPr>
          <a:xfrm>
            <a:off x="3511296" y="1207579"/>
            <a:ext cx="2834640" cy="121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3511296" y="1267503"/>
            <a:ext cx="26060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Eliminar ruido (caracteres especiales)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1A1A2E"/>
                </a:solidFill>
              </a:rPr>
              <a:t>Normalizar mayúsculas / minúsculas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1A1A2E"/>
                </a:solidFill>
              </a:rPr>
              <a:t>Tokenizacion WordPiece (DistilBERT)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1A1A2E"/>
                </a:solidFill>
              </a:rPr>
              <a:t>max_len = 320 tokens (cubre reseñas largas)</a:t>
            </a:r>
            <a:endParaRPr lang="es-CL" sz="1000" b="1" dirty="0">
              <a:solidFill>
                <a:srgbClr val="1A1A2E"/>
              </a:solidFill>
            </a:endParaRPr>
          </a:p>
          <a:p>
            <a:endParaRPr lang="es-CL" sz="1000" b="1" i="0" noProof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Fundamento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i="1" dirty="0">
                <a:solidFill>
                  <a:srgbClr val="B0C4DE"/>
                </a:solidFill>
                <a:latin typeface="Calibri"/>
              </a:rPr>
              <a:t>P</a:t>
            </a:r>
            <a:r>
              <a:rPr lang="es-CL" sz="1000" b="0" i="1" noProof="0" dirty="0" err="1">
                <a:solidFill>
                  <a:srgbClr val="B0C4DE"/>
                </a:solidFill>
                <a:latin typeface="Calibri"/>
              </a:rPr>
              <a:t>or</a:t>
            </a:r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 que DistilBERT + BiLSTM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256032" y="877824"/>
            <a:ext cx="1938528" cy="9875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92608" y="94210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Bag </a:t>
            </a:r>
            <a:r>
              <a:rPr lang="es-CL" sz="1200" b="1" i="0" noProof="0" dirty="0" err="1">
                <a:solidFill>
                  <a:srgbClr val="FFFFFF"/>
                </a:solidFill>
                <a:latin typeface="Calibri"/>
              </a:rPr>
              <a:t>of</a:t>
            </a:r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 Words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89304"/>
            <a:ext cx="1938528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10896" y="1316736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Sin orden ni contexto.
Pierde sintaxis.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266774"/>
            <a:ext cx="2560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300" b="1" i="0" noProof="0" dirty="0">
                <a:solidFill>
                  <a:srgbClr val="1B3A6B"/>
                </a:solidFill>
                <a:latin typeface="Calibr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877824"/>
            <a:ext cx="1938528" cy="9875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495065" y="921881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Word2Vec GloVe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289304"/>
            <a:ext cx="1938528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466386" y="1289304"/>
            <a:ext cx="18861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Embeddings estáticos.
'banco’ (Parque) = 'banco’ (dinero).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902" y="1248376"/>
            <a:ext cx="2560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300" b="1" i="0" noProof="0" dirty="0">
                <a:solidFill>
                  <a:srgbClr val="1B3A6B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877824"/>
            <a:ext cx="1938528" cy="9875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736592" y="91440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DistilBERT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1289304"/>
            <a:ext cx="1938528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736592" y="1365350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Embeddings contextuales.
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1230532"/>
            <a:ext cx="2560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300" b="1" i="0" noProof="0" dirty="0">
                <a:solidFill>
                  <a:srgbClr val="1B3A6B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94576" y="877824"/>
            <a:ext cx="1938528" cy="9875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949440" y="932965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DistilBERT + BiLSTM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94576" y="1289304"/>
            <a:ext cx="1938528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949440" y="1289304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Contexto global </a:t>
            </a:r>
          </a:p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+ </a:t>
            </a:r>
          </a:p>
          <a:p>
            <a:pPr algn="ctr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dependencias secuenciales.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1993392"/>
            <a:ext cx="8631936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356615" y="1987595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Por que DistilBERT y no BERT completo?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286000"/>
            <a:ext cx="8631936" cy="27432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" y="2340864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2E7D32"/>
                </a:solidFill>
                <a:latin typeface="Calibri"/>
              </a:rPr>
              <a:t>Restricción de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596" y="2526486"/>
            <a:ext cx="28207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Entrenamiento local. BERT-base tiene 110M parámetros y excede la capacidad disponible.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340864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2E7D32"/>
                </a:solidFill>
                <a:latin typeface="Calibri"/>
              </a:rPr>
              <a:t>DistilBERT — eficiencia comprobada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540341"/>
            <a:ext cx="2633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66M parámetros (40% menos). Retiene ~97% del rendimiento de BERT.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2340864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2E7D32"/>
                </a:solidFill>
                <a:latin typeface="Calibri"/>
              </a:rPr>
              <a:t>Trade-off justificado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4932" y="2545372"/>
            <a:ext cx="2633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100" b="1" i="0" noProof="0" dirty="0">
                <a:solidFill>
                  <a:srgbClr val="1A1A2E"/>
                </a:solidFill>
                <a:latin typeface="Calibri"/>
              </a:rPr>
              <a:t>60% más rápido en la inferencia (procesamiento/predicción)</a:t>
            </a:r>
            <a:endParaRPr lang="es-CL" sz="950" b="1" i="0" noProof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6033" y="3236976"/>
            <a:ext cx="534813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375596" y="3258895"/>
            <a:ext cx="5630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Por que BiLSTM?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3" y="3529584"/>
            <a:ext cx="5348132" cy="67285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365760" y="3615241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2E7D32"/>
                </a:solidFill>
                <a:latin typeface="Calibri"/>
              </a:rPr>
              <a:t>Limitación del token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5" y="3876472"/>
            <a:ext cx="28397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El CLS de DistilBERT comprime</a:t>
            </a:r>
            <a:r>
              <a:rPr lang="es-MX" sz="1100" b="1" dirty="0"/>
              <a:t> toda la secuencia a un único vector de, lo que puede hacer que se pierda estructura secuencial y detalles locales en textos largos</a:t>
            </a: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3166" y="3630231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2E7D32"/>
                </a:solidFill>
                <a:latin typeface="Calibri"/>
              </a:rPr>
              <a:t>BiLSTM sobre secuencia completa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93166" y="3885395"/>
            <a:ext cx="26334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100" b="1" i="0" noProof="0" dirty="0">
                <a:solidFill>
                  <a:srgbClr val="1A1A2E"/>
                </a:solidFill>
                <a:latin typeface="Calibri"/>
              </a:rPr>
              <a:t>Procesa los hidden states de todos los tokens en ambas direcciones, preservando el contexto secuencial explícito a lo largo de toda la secuencia.</a:t>
            </a:r>
            <a:endParaRPr lang="es-CL" sz="1100" b="1" i="0" noProof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236976"/>
            <a:ext cx="73152" cy="16642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Rectangle 25"/>
          <p:cNvSpPr/>
          <p:nvPr/>
        </p:nvSpPr>
        <p:spPr>
          <a:xfrm>
            <a:off x="256032" y="1993392"/>
            <a:ext cx="73152" cy="11155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557EA4A3-AEFC-CC38-1A87-9E1CF4DA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701" y="3255856"/>
            <a:ext cx="2971800" cy="1622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35766"/>
            <a:ext cx="8503920" cy="463934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155353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Arquitectura del Modelo — Pipeline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Preentrenamiento Continuo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Masked Language Modeling sobre corpus de anime para adaptar DistilBERT al dominio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310896" y="1001126"/>
            <a:ext cx="5349240" cy="26135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20624" y="101027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Continued Pretraining MLM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1293734"/>
            <a:ext cx="5349240" cy="27432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38912" y="1357742"/>
            <a:ext cx="5084064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s-CL" sz="1100" b="1" i="0" noProof="0" dirty="0">
                <a:solidFill>
                  <a:srgbClr val="00B050"/>
                </a:solidFill>
                <a:latin typeface="Calibri"/>
              </a:rPr>
              <a:t>DistilBERT fue preentrenado con texto general (Wikipedia + BookCorpus).</a:t>
            </a:r>
          </a:p>
          <a:p>
            <a:pPr algn="l">
              <a:spcBef>
                <a:spcPts val="800"/>
              </a:spcBef>
            </a:pP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No conoce bien el vocabulario especifico del dominio anime: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Nombres de series: '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Shingeki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no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Kyojin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', '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Fullmetal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'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Personajes: 'Edward Elric', 'Naruto'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Jerga fan: '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plot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armor', '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waifu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', </a:t>
            </a:r>
          </a:p>
          <a:p>
            <a:pPr algn="l">
              <a:spcBef>
                <a:spcPts val="400"/>
              </a:spcBef>
            </a:pPr>
            <a:r>
              <a:rPr lang="es-CL" sz="1100" b="1" i="0" noProof="0" dirty="0">
                <a:solidFill>
                  <a:srgbClr val="00B050"/>
                </a:solidFill>
                <a:latin typeface="Calibri"/>
              </a:rPr>
              <a:t>Masked Language Modeling (MLM):</a:t>
            </a:r>
          </a:p>
          <a:p>
            <a:pPr algn="l">
              <a:spcBef>
                <a:spcPts val="300"/>
              </a:spcBef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Enmascarar tokens al azar y entrenar al modelo para predecirlos. El modelo aprende representaciones del dominio anime.</a:t>
            </a:r>
          </a:p>
          <a:p>
            <a:pPr algn="l">
              <a:spcBef>
                <a:spcPts val="400"/>
              </a:spcBef>
            </a:pPr>
            <a:r>
              <a:rPr lang="es-CL" sz="1100" b="1" i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Script: pretrain_mlm.py</a:t>
            </a:r>
          </a:p>
          <a:p>
            <a:pPr algn="l">
              <a:spcBef>
                <a:spcPts val="300"/>
              </a:spcBef>
            </a:pPr>
            <a:r>
              <a:rPr lang="es-CL" sz="1100" b="1" i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Salida: </a:t>
            </a:r>
            <a:r>
              <a:rPr lang="es-CL" sz="1100" b="1" i="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models</a:t>
            </a:r>
            <a:r>
              <a:rPr lang="es-CL" sz="1100" b="1" i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/</a:t>
            </a:r>
            <a:r>
              <a:rPr lang="es-CL" sz="1100" b="1" i="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distilbert_anime_pretrained</a:t>
            </a:r>
            <a:endParaRPr lang="es-CL" sz="1100" b="1" i="0" noProof="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61304" y="1001126"/>
            <a:ext cx="3081528" cy="2662567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998464" y="103770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50" b="1" i="0" noProof="0" dirty="0">
                <a:solidFill>
                  <a:srgbClr val="FFFFFF"/>
                </a:solidFill>
                <a:latin typeface="Calibri"/>
              </a:rPr>
              <a:t>Impacto medido en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61304" y="1293734"/>
            <a:ext cx="3081528" cy="27432"/>
          </a:xfrm>
          <a:prstGeom prst="rect">
            <a:avLst/>
          </a:prstGeom>
          <a:solidFill>
            <a:srgbClr val="355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5925312" y="1366886"/>
            <a:ext cx="2926080" cy="1005840"/>
          </a:xfrm>
          <a:prstGeom prst="rect">
            <a:avLst/>
          </a:prstGeom>
          <a:solidFill>
            <a:srgbClr val="24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925312" y="140346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B0C4DE"/>
                </a:solidFill>
                <a:latin typeface="Calibri"/>
              </a:rPr>
              <a:t>SIN preentrenamiento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160463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3800" b="1" i="0" noProof="0" dirty="0">
                <a:solidFill>
                  <a:srgbClr val="FFCC44"/>
                </a:solidFill>
                <a:latin typeface="Calibri"/>
              </a:rPr>
              <a:t>~88%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61304" y="2354438"/>
            <a:ext cx="3081528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/>
          <p:cNvSpPr/>
          <p:nvPr/>
        </p:nvSpPr>
        <p:spPr>
          <a:xfrm>
            <a:off x="5925312" y="2409302"/>
            <a:ext cx="2926080" cy="1097280"/>
          </a:xfrm>
          <a:prstGeom prst="rect">
            <a:avLst/>
          </a:prstGeom>
          <a:solidFill>
            <a:srgbClr val="185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5925312" y="244587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0" i="0" noProof="0" dirty="0">
                <a:solidFill>
                  <a:srgbClr val="B0D4B0"/>
                </a:solidFill>
                <a:latin typeface="Calibri"/>
              </a:rPr>
              <a:t>CON preentrenamiento MLM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647046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3400" b="1" i="0" noProof="0" dirty="0">
                <a:solidFill>
                  <a:srgbClr val="FFFFFF"/>
                </a:solidFill>
                <a:latin typeface="Calibri"/>
              </a:rPr>
              <a:t>91.82%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25312" y="3488294"/>
            <a:ext cx="2926080" cy="45719"/>
          </a:xfrm>
          <a:prstGeom prst="rect">
            <a:avLst/>
          </a:prstGeom>
          <a:solidFill>
            <a:srgbClr val="185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/>
          <p:cNvSpPr/>
          <p:nvPr/>
        </p:nvSpPr>
        <p:spPr>
          <a:xfrm>
            <a:off x="310896" y="3794617"/>
            <a:ext cx="8631936" cy="40011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420624" y="3815815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1" i="0" noProof="0" dirty="0">
                <a:solidFill>
                  <a:srgbClr val="1A1A2E"/>
                </a:solidFill>
                <a:latin typeface="Calibri"/>
              </a:rPr>
              <a:t>El costo computacional del preentrenamiento MLM se justifica por la ganancia de +3.82% en </a:t>
            </a:r>
            <a:r>
              <a:rPr lang="es-CL" sz="1000" b="1" i="0" noProof="0" dirty="0" err="1">
                <a:solidFill>
                  <a:srgbClr val="1A1A2E"/>
                </a:solidFill>
                <a:latin typeface="Calibri"/>
              </a:rPr>
              <a:t>accuracy</a:t>
            </a:r>
            <a:r>
              <a:rPr lang="es-CL" sz="1000" b="1" i="0" noProof="0" dirty="0">
                <a:solidFill>
                  <a:srgbClr val="1A1A2E"/>
                </a:solidFill>
                <a:latin typeface="Calibri"/>
              </a:rPr>
              <a:t>. El modelo aprende representaciones especificas del dominio que el DistilBERT base no captura.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001126"/>
            <a:ext cx="54864" cy="2613521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ACCB8289-09AF-55BE-2B86-5E231C1BCCF7}"/>
              </a:ext>
            </a:extLst>
          </p:cNvPr>
          <p:cNvSpPr/>
          <p:nvPr/>
        </p:nvSpPr>
        <p:spPr>
          <a:xfrm rot="16200000">
            <a:off x="4274819" y="2121406"/>
            <a:ext cx="640081" cy="66751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Estrategia de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Dos fases — hiperparametros seleccionados por mejor rendimiento en validación.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256032" y="877824"/>
            <a:ext cx="4005072" cy="31272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6032" y="877824"/>
            <a:ext cx="4005072" cy="329184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384048" y="905256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FASE 1 — DistilBERT Congelado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3767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0" noProof="0" dirty="0">
                <a:solidFill>
                  <a:srgbClr val="B0C4DE"/>
                </a:solidFill>
                <a:latin typeface="Calibri"/>
              </a:rPr>
              <a:t>Solo BiLSTM, </a:t>
            </a:r>
            <a:r>
              <a:rPr lang="es-CL" sz="1000" b="0" i="0" noProof="0" dirty="0" err="1">
                <a:solidFill>
                  <a:srgbClr val="B0C4DE"/>
                </a:solidFill>
                <a:latin typeface="Calibri"/>
              </a:rPr>
              <a:t>Distilber</a:t>
            </a:r>
            <a:r>
              <a:rPr lang="es-CL" sz="1000" b="0" i="0" noProof="0" dirty="0">
                <a:solidFill>
                  <a:srgbClr val="B0C4DE"/>
                </a:solidFill>
                <a:latin typeface="Calibri"/>
              </a:rPr>
              <a:t> solo extrae caracteristicas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371600"/>
            <a:ext cx="4005072" cy="27432"/>
          </a:xfrm>
          <a:prstGeom prst="rect">
            <a:avLst/>
          </a:prstGeom>
          <a:solidFill>
            <a:srgbClr val="355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292608" y="1466525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Epochs</a:t>
            </a:r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: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813997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LR (BiLSTM + head):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161469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Weight </a:t>
            </a:r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Decay</a:t>
            </a:r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: 0.01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2508941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Grad Clip: 1,0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" y="2815393"/>
            <a:ext cx="26099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Scheduler</a:t>
            </a:r>
            <a:r>
              <a:rPr lang="es-CL" sz="1100" b="1" i="0" noProof="0" dirty="0">
                <a:solidFill>
                  <a:srgbClr val="B0C4DE"/>
                </a:solidFill>
                <a:latin typeface="Calibri"/>
              </a:rPr>
              <a:t>: </a:t>
            </a:r>
            <a:r>
              <a:rPr lang="es-CL" sz="1100" b="1" dirty="0" err="1">
                <a:solidFill>
                  <a:schemeClr val="bg1"/>
                </a:solidFill>
              </a:rPr>
              <a:t>Warmup</a:t>
            </a:r>
            <a:r>
              <a:rPr lang="es-CL" sz="1100" b="1" dirty="0">
                <a:solidFill>
                  <a:srgbClr val="FFFFFF"/>
                </a:solidFill>
              </a:rPr>
              <a:t> 10% + </a:t>
            </a:r>
            <a:r>
              <a:rPr lang="es-CL" sz="1100" b="1" dirty="0" err="1">
                <a:solidFill>
                  <a:srgbClr val="FFFFFF"/>
                </a:solidFill>
              </a:rPr>
              <a:t>Decay</a:t>
            </a:r>
            <a:r>
              <a:rPr lang="es-CL" sz="1100" b="1" dirty="0">
                <a:solidFill>
                  <a:srgbClr val="FFFFFF"/>
                </a:solidFill>
              </a:rPr>
              <a:t> lineal</a:t>
            </a:r>
          </a:p>
          <a:p>
            <a:pPr algn="l"/>
            <a:endParaRPr lang="es-CL" sz="1100" b="1" i="0" noProof="0" dirty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2607" y="3175770"/>
            <a:ext cx="34966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Objetivo: </a:t>
            </a:r>
            <a:r>
              <a:rPr lang="es-CL" sz="1100" b="1" dirty="0">
                <a:solidFill>
                  <a:schemeClr val="bg1"/>
                </a:solidFill>
              </a:rPr>
              <a:t>Estabilizar BiLSTM antes del fine-</a:t>
            </a:r>
            <a:r>
              <a:rPr lang="es-CL" sz="1100" b="1" dirty="0" err="1">
                <a:solidFill>
                  <a:schemeClr val="bg1"/>
                </a:solidFill>
              </a:rPr>
              <a:t>tuning</a:t>
            </a:r>
            <a:endParaRPr lang="es-CL" sz="1100" b="1" dirty="0">
              <a:solidFill>
                <a:schemeClr val="bg1"/>
              </a:solidFill>
            </a:endParaRPr>
          </a:p>
          <a:p>
            <a:pPr algn="l"/>
            <a:endParaRPr lang="es-CL" sz="1100" b="1" i="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882896" y="877824"/>
            <a:ext cx="4005072" cy="3127248"/>
          </a:xfrm>
          <a:prstGeom prst="rect">
            <a:avLst/>
          </a:prstGeom>
          <a:solidFill>
            <a:srgbClr val="1A5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/>
          <p:cNvSpPr/>
          <p:nvPr/>
        </p:nvSpPr>
        <p:spPr>
          <a:xfrm>
            <a:off x="4882896" y="877824"/>
            <a:ext cx="4005072" cy="329184"/>
          </a:xfrm>
          <a:prstGeom prst="rect">
            <a:avLst/>
          </a:prstGeom>
          <a:solidFill>
            <a:srgbClr val="12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5010912" y="905256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FASE 2 — </a:t>
            </a:r>
            <a:r>
              <a:rPr lang="es-CL" sz="1200" b="1" dirty="0">
                <a:solidFill>
                  <a:srgbClr val="FFFFFF"/>
                </a:solidFill>
                <a:latin typeface="Calibri"/>
              </a:rPr>
              <a:t>Entrenamiento </a:t>
            </a:r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completo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1170432"/>
            <a:ext cx="3767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0" noProof="0" dirty="0">
                <a:solidFill>
                  <a:srgbClr val="B0D4B0"/>
                </a:solidFill>
                <a:latin typeface="Calibri"/>
              </a:rPr>
              <a:t>Red completa entrenada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82896" y="1371600"/>
            <a:ext cx="4005072" cy="27432"/>
          </a:xfrm>
          <a:prstGeom prst="rect">
            <a:avLst/>
          </a:prstGeom>
          <a:solidFill>
            <a:srgbClr val="288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914900" y="1473654"/>
            <a:ext cx="2011680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Epochs</a:t>
            </a:r>
            <a:r>
              <a:rPr lang="es-CL" sz="1050" b="1" dirty="0">
                <a:solidFill>
                  <a:schemeClr val="bg1"/>
                </a:solidFill>
              </a:rPr>
              <a:t>: 8  con </a:t>
            </a:r>
            <a:r>
              <a:rPr lang="es-CL" sz="1050" b="1" dirty="0" err="1">
                <a:solidFill>
                  <a:schemeClr val="bg1"/>
                </a:solidFill>
              </a:rPr>
              <a:t>early</a:t>
            </a:r>
            <a:r>
              <a:rPr lang="es-CL" sz="1050" b="1" dirty="0">
                <a:solidFill>
                  <a:schemeClr val="bg1"/>
                </a:solidFill>
              </a:rPr>
              <a:t> </a:t>
            </a:r>
            <a:r>
              <a:rPr lang="es-CL" sz="1050" b="1" dirty="0" err="1">
                <a:solidFill>
                  <a:schemeClr val="bg1"/>
                </a:solidFill>
              </a:rPr>
              <a:t>stopping</a:t>
            </a:r>
            <a:endParaRPr lang="es-CL" sz="1050" b="1" dirty="0">
              <a:solidFill>
                <a:schemeClr val="bg1"/>
              </a:solidFill>
            </a:endParaRPr>
          </a:p>
          <a:p>
            <a:pPr algn="l"/>
            <a:endParaRPr lang="es-CL" sz="1050" b="1" i="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14899" y="1875990"/>
            <a:ext cx="24695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LR full </a:t>
            </a:r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network</a:t>
            </a:r>
            <a:r>
              <a:rPr lang="es-CL" sz="1100" b="1" dirty="0">
                <a:solidFill>
                  <a:schemeClr val="bg1"/>
                </a:solidFill>
              </a:rPr>
              <a:t>: 2 x 10^-5  (muy bajo)</a:t>
            </a:r>
          </a:p>
          <a:p>
            <a:pPr algn="l"/>
            <a:endParaRPr lang="es-CL" sz="1100" b="1" i="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14899" y="2278326"/>
            <a:ext cx="2414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Layer-</a:t>
            </a:r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wise</a:t>
            </a:r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 LR </a:t>
            </a:r>
            <a:r>
              <a:rPr lang="es-CL" sz="1100" b="1" i="0" noProof="0" dirty="0" err="1">
                <a:solidFill>
                  <a:schemeClr val="bg1"/>
                </a:solidFill>
                <a:latin typeface="Calibri"/>
              </a:rPr>
              <a:t>decay</a:t>
            </a:r>
            <a:r>
              <a:rPr lang="es-CL" sz="1100" b="1" dirty="0">
                <a:solidFill>
                  <a:schemeClr val="bg1"/>
                </a:solidFill>
              </a:rPr>
              <a:t>: 0.9 por capa </a:t>
            </a:r>
            <a:endParaRPr lang="es-CL" sz="1100" b="1" i="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14899" y="2680662"/>
            <a:ext cx="25457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Early stop </a:t>
            </a:r>
            <a:r>
              <a:rPr lang="es-CL" sz="1100" b="1" dirty="0">
                <a:solidFill>
                  <a:schemeClr val="bg1"/>
                </a:solidFill>
              </a:rPr>
              <a:t>en: </a:t>
            </a:r>
            <a:r>
              <a:rPr lang="es-CL" sz="1100" b="1" dirty="0" err="1">
                <a:solidFill>
                  <a:schemeClr val="bg1"/>
                </a:solidFill>
              </a:rPr>
              <a:t>val_accuracy</a:t>
            </a:r>
            <a:r>
              <a:rPr lang="es-CL" sz="1100" b="1" dirty="0">
                <a:solidFill>
                  <a:schemeClr val="bg1"/>
                </a:solidFill>
              </a:rPr>
              <a:t>  (</a:t>
            </a:r>
            <a:r>
              <a:rPr lang="es-CL" sz="1100" b="1" dirty="0" err="1">
                <a:solidFill>
                  <a:schemeClr val="bg1"/>
                </a:solidFill>
              </a:rPr>
              <a:t>patience</a:t>
            </a:r>
            <a:r>
              <a:rPr lang="es-CL" sz="1100" b="1" dirty="0">
                <a:solidFill>
                  <a:schemeClr val="bg1"/>
                </a:solidFill>
              </a:rPr>
              <a:t>=2)</a:t>
            </a:r>
          </a:p>
          <a:p>
            <a:pPr algn="l"/>
            <a:endParaRPr lang="es-CL" sz="1100" b="1" i="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14900" y="3082998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chemeClr val="bg1"/>
                </a:solidFill>
                <a:latin typeface="Calibri"/>
              </a:rPr>
              <a:t>Grad Clip: 1.0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114800"/>
            <a:ext cx="8631936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41"/>
          <p:cNvSpPr/>
          <p:nvPr/>
        </p:nvSpPr>
        <p:spPr>
          <a:xfrm>
            <a:off x="256032" y="4114800"/>
            <a:ext cx="73152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420624" y="4151376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dirty="0">
                <a:solidFill>
                  <a:srgbClr val="1B3A6B"/>
                </a:solidFill>
                <a:latin typeface="Calibri"/>
              </a:rPr>
              <a:t>S</a:t>
            </a:r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elección de hiperparametros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" y="4364583"/>
            <a:ext cx="8321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Los valores de LR,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dropout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,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lstm_hidden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y batch_size se determinaron experimentalmente: se probaron varias configuraciones hasta dar con las que maximizaron la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accuracy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en validación, en ambos caso se uso un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batch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</a:t>
            </a:r>
            <a:r>
              <a:rPr lang="es-CL" sz="1100" b="1" i="0" noProof="0" dirty="0" err="1">
                <a:solidFill>
                  <a:srgbClr val="55657A"/>
                </a:solidFill>
                <a:latin typeface="Calibri"/>
              </a:rPr>
              <a:t>size</a:t>
            </a: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de 8.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8558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8558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1" noProof="0" dirty="0">
                <a:solidFill>
                  <a:srgbClr val="B0C4DE"/>
                </a:solidFill>
                <a:latin typeface="Calibri"/>
              </a:rPr>
              <a:t>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256032" y="868680"/>
            <a:ext cx="1993392" cy="89611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56032" y="923544"/>
            <a:ext cx="1993392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1B3A6B"/>
                </a:solidFill>
                <a:latin typeface="Calibri"/>
              </a:rPr>
              <a:t>91.82%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361541"/>
            <a:ext cx="19933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Accuracy / F1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868680"/>
            <a:ext cx="1993392" cy="8961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377440" y="923544"/>
            <a:ext cx="1993392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2E7D32"/>
                </a:solidFill>
                <a:latin typeface="Calibri"/>
              </a:rPr>
              <a:t>97.42%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61541"/>
            <a:ext cx="19933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868680"/>
            <a:ext cx="1993392" cy="89611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498848" y="923544"/>
            <a:ext cx="1993392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1B3A6B"/>
                </a:solidFill>
                <a:latin typeface="Calibri"/>
              </a:rPr>
              <a:t>2,739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361541"/>
            <a:ext cx="19933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Clasificaciones correctas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868680"/>
            <a:ext cx="1993392" cy="89611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620256" y="923544"/>
            <a:ext cx="1993392" cy="4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i="0" noProof="0" dirty="0">
                <a:solidFill>
                  <a:srgbClr val="8B0000"/>
                </a:solidFill>
                <a:latin typeface="Calibri"/>
              </a:rPr>
              <a:t>244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1361541"/>
            <a:ext cx="19933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Errores (8.18%)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" y="1874520"/>
            <a:ext cx="4160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Métricas por clase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72497"/>
              </p:ext>
            </p:extLst>
          </p:nvPr>
        </p:nvGraphicFramePr>
        <p:xfrm>
          <a:off x="256032" y="2139696"/>
          <a:ext cx="416052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Precisión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  <a:endParaRPr lang="es-CL" sz="1050" b="1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>
                          <a:solidFill>
                            <a:srgbClr val="1A1A2E"/>
                          </a:solidFill>
                          <a:latin typeface="Calibri"/>
                        </a:rPr>
                        <a:t>Negativa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92.4%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91.1%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91.8%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es-CL" sz="1050" b="1" noProof="0" dirty="0">
                          <a:solidFill>
                            <a:srgbClr val="1A1A2E"/>
                          </a:solidFill>
                          <a:latin typeface="Calibri"/>
                        </a:rPr>
                        <a:t>Positiva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0" noProof="0" dirty="0">
                          <a:solidFill>
                            <a:srgbClr val="1A1A2E"/>
                          </a:solidFill>
                          <a:latin typeface="Calibri"/>
                        </a:rPr>
                        <a:t>91.9%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256032" y="3145536"/>
            <a:ext cx="416052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/>
          <p:cNvSpPr/>
          <p:nvPr/>
        </p:nvSpPr>
        <p:spPr>
          <a:xfrm>
            <a:off x="256032" y="3145536"/>
            <a:ext cx="73152" cy="17007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420624" y="3182112"/>
            <a:ext cx="3858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100" b="1" i="0" noProof="0" dirty="0">
                <a:solidFill>
                  <a:srgbClr val="1B3A6B"/>
                </a:solidFill>
                <a:latin typeface="Calibri"/>
              </a:rPr>
              <a:t>Análisis de errores — 244 casos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419856"/>
            <a:ext cx="4160520" cy="27432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384048" y="3474720"/>
            <a:ext cx="3886200" cy="132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133 falsos positivos: negativas clasificadas como positivas</a:t>
            </a:r>
          </a:p>
          <a:p>
            <a:pPr algn="l">
              <a:spcBef>
                <a:spcPts val="400"/>
              </a:spcBef>
            </a:pPr>
            <a:r>
              <a:rPr lang="es-CL" sz="1100" b="1" i="0" noProof="0" dirty="0">
                <a:solidFill>
                  <a:srgbClr val="1A1A2E"/>
                </a:solidFill>
                <a:latin typeface="Calibri"/>
              </a:rPr>
              <a:t>111 falsos negativos: positivas clasificadas como negativas</a:t>
            </a:r>
          </a:p>
          <a:p>
            <a:pPr algn="l">
              <a:spcBef>
                <a:spcPts val="400"/>
              </a:spcBef>
            </a:pPr>
            <a:r>
              <a:rPr lang="es-CL" sz="1100" b="1" i="0" noProof="0" dirty="0">
                <a:solidFill>
                  <a:srgbClr val="00B050"/>
                </a:solidFill>
                <a:latin typeface="Calibri"/>
              </a:rPr>
              <a:t>Patrones detectados en test_errors.csv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Ironía y sarcasmo sin marcadores explícitos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Resenas mixtas con argumentos de ambos sentimientos</a:t>
            </a:r>
          </a:p>
          <a:p>
            <a:pPr marL="171450" indent="-1714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55657A"/>
                </a:solidFill>
                <a:latin typeface="Calibri"/>
              </a:rPr>
              <a:t>  Textos muy cortos con vocabulario ambiguo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4153" y="2025023"/>
            <a:ext cx="4160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1B3A6B"/>
                </a:solidFill>
                <a:latin typeface="Calibri"/>
              </a:rPr>
              <a:t>Matriz de Confusión</a:t>
            </a:r>
          </a:p>
        </p:txBody>
      </p:sp>
      <p:pic>
        <p:nvPicPr>
          <p:cNvPr id="26" name="Picture 2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294" y="2314342"/>
            <a:ext cx="3433924" cy="225875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28016" y="155453"/>
            <a:ext cx="855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000" b="1" i="0" noProof="0" dirty="0">
                <a:solidFill>
                  <a:srgbClr val="FFFFFF"/>
                </a:solidFill>
                <a:latin typeface="Calibri"/>
              </a:rPr>
              <a:t>Limitaciones, Posibles mejoras y uso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Rectangle 8"/>
          <p:cNvSpPr/>
          <p:nvPr/>
        </p:nvSpPr>
        <p:spPr>
          <a:xfrm>
            <a:off x="128016" y="1051560"/>
            <a:ext cx="2834640" cy="2302625"/>
          </a:xfrm>
          <a:prstGeom prst="rect">
            <a:avLst/>
          </a:prstGeom>
          <a:solidFill>
            <a:srgbClr val="1C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/>
          <p:cNvSpPr/>
          <p:nvPr/>
        </p:nvSpPr>
        <p:spPr>
          <a:xfrm>
            <a:off x="128016" y="1051560"/>
            <a:ext cx="2834640" cy="347472"/>
          </a:xfrm>
          <a:prstGeom prst="rect">
            <a:avLst/>
          </a:prstGeom>
          <a:solidFill>
            <a:srgbClr val="D4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219456" y="1078992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noProof="0" dirty="0">
                <a:solidFill>
                  <a:srgbClr val="FFFFFF"/>
                </a:solidFill>
                <a:latin typeface="Calibri"/>
              </a:rPr>
              <a:t>LIMITACIONES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" y="1472184"/>
            <a:ext cx="259689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Clasificación binaria no captura bien  matices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Dataset principalmente en ingles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Ironía y sarcasmo siguen siendo el mayor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84" y="1051560"/>
            <a:ext cx="2834640" cy="2302625"/>
          </a:xfrm>
          <a:prstGeom prst="rect">
            <a:avLst/>
          </a:prstGeom>
          <a:solidFill>
            <a:srgbClr val="1C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072384" y="1051560"/>
            <a:ext cx="2834640" cy="347472"/>
          </a:xfrm>
          <a:prstGeom prst="rect">
            <a:avLst/>
          </a:prstGeom>
          <a:solidFill>
            <a:srgbClr val="0D7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163824" y="1078992"/>
            <a:ext cx="26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dirty="0">
                <a:solidFill>
                  <a:srgbClr val="FFFFFF"/>
                </a:solidFill>
                <a:latin typeface="Calibri"/>
              </a:rPr>
              <a:t>Posibles mejoras</a:t>
            </a:r>
            <a:endParaRPr lang="es-CL" sz="12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72384" y="1499616"/>
            <a:ext cx="2671433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Clasificación multiclase (escala 1-10)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Modelos mayores: BERT-base, </a:t>
            </a:r>
            <a:r>
              <a:rPr lang="es-CL" sz="1100" b="1" i="0" noProof="0" dirty="0" err="1">
                <a:solidFill>
                  <a:srgbClr val="FFFFFF"/>
                </a:solidFill>
                <a:latin typeface="Calibri"/>
              </a:rPr>
              <a:t>RoBERTa</a:t>
            </a: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Soporte multilingüe (reseñas en español)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Aumentación con back-</a:t>
            </a:r>
            <a:r>
              <a:rPr lang="es-CL" sz="1100" b="1" i="0" noProof="0" dirty="0" err="1">
                <a:solidFill>
                  <a:srgbClr val="FFFFFF"/>
                </a:solidFill>
                <a:latin typeface="Calibri"/>
              </a:rPr>
              <a:t>translation</a:t>
            </a:r>
            <a:endParaRPr lang="es-CL" sz="1100" b="1" i="0" noProof="0" dirty="0">
              <a:solidFill>
                <a:srgbClr val="FFFFFF"/>
              </a:solidFill>
              <a:latin typeface="Calibri"/>
            </a:endParaRP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Evaluación en </a:t>
            </a:r>
            <a:r>
              <a:rPr lang="es-CL" sz="1100" b="1" i="0" noProof="0" dirty="0" err="1">
                <a:solidFill>
                  <a:srgbClr val="FFFFFF"/>
                </a:solidFill>
                <a:latin typeface="Calibri"/>
              </a:rPr>
              <a:t>IMDb</a:t>
            </a:r>
            <a:r>
              <a:rPr lang="es-CL" sz="1100" b="1" i="0" noProof="0" dirty="0">
                <a:solidFill>
                  <a:srgbClr val="FFFFFF"/>
                </a:solidFill>
                <a:latin typeface="Calibri"/>
              </a:rPr>
              <a:t> y similares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900" b="0" i="0" noProof="0" dirty="0">
                <a:solidFill>
                  <a:srgbClr val="55657A"/>
                </a:solidFill>
                <a:latin typeface="Calibri"/>
              </a:rPr>
              <a:t>10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D5D8585E-B1E2-40AC-4B8D-506B7B840697}"/>
              </a:ext>
            </a:extLst>
          </p:cNvPr>
          <p:cNvSpPr/>
          <p:nvPr/>
        </p:nvSpPr>
        <p:spPr>
          <a:xfrm>
            <a:off x="6016752" y="1051560"/>
            <a:ext cx="2834640" cy="2302625"/>
          </a:xfrm>
          <a:prstGeom prst="rect">
            <a:avLst/>
          </a:prstGeom>
          <a:solidFill>
            <a:srgbClr val="1C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D359B5CA-F21C-20F2-F935-FBC682023427}"/>
              </a:ext>
            </a:extLst>
          </p:cNvPr>
          <p:cNvSpPr/>
          <p:nvPr/>
        </p:nvSpPr>
        <p:spPr>
          <a:xfrm>
            <a:off x="6016752" y="1051560"/>
            <a:ext cx="2834640" cy="3474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rgbClr val="00B050"/>
              </a:solidFill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AE3DA2BC-BB6F-CF89-3F4F-31390C5CD8CA}"/>
              </a:ext>
            </a:extLst>
          </p:cNvPr>
          <p:cNvSpPr txBox="1"/>
          <p:nvPr/>
        </p:nvSpPr>
        <p:spPr>
          <a:xfrm>
            <a:off x="6108192" y="1078992"/>
            <a:ext cx="20898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dirty="0">
                <a:solidFill>
                  <a:srgbClr val="FFFFFF"/>
                </a:solidFill>
                <a:latin typeface="Calibri"/>
              </a:rPr>
              <a:t>Uso de </a:t>
            </a:r>
            <a:r>
              <a:rPr lang="es-CL" sz="1200" b="1" dirty="0" err="1">
                <a:solidFill>
                  <a:srgbClr val="FFFFFF"/>
                </a:solidFill>
                <a:latin typeface="Calibri"/>
              </a:rPr>
              <a:t>ia</a:t>
            </a:r>
            <a:endParaRPr lang="es-CL" sz="12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65E5D598-88E6-4C1D-CA34-18A219EF458E}"/>
              </a:ext>
            </a:extLst>
          </p:cNvPr>
          <p:cNvSpPr txBox="1"/>
          <p:nvPr/>
        </p:nvSpPr>
        <p:spPr>
          <a:xfrm>
            <a:off x="6016752" y="1499616"/>
            <a:ext cx="2671433" cy="11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MX" sz="1100" b="1" dirty="0">
                <a:solidFill>
                  <a:srgbClr val="FFFFFF"/>
                </a:solidFill>
                <a:latin typeface="Calibri"/>
              </a:rPr>
              <a:t>Claude Sonnet 4.5 para el desarrollo del código y estructura del proyecto, y el diseño de la presentación</a:t>
            </a:r>
          </a:p>
          <a:p>
            <a:pPr marL="171450" indent="-1714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s-MX" sz="1100" b="1" dirty="0">
                <a:solidFill>
                  <a:srgbClr val="FFFFFF"/>
                </a:solidFill>
                <a:latin typeface="Calibri"/>
              </a:rPr>
              <a:t>Google Gemini 3.1 pro para investigación del tema y generación de imágenes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8FD73117-87DC-8390-F13E-77C2D030B8E3}"/>
              </a:ext>
            </a:extLst>
          </p:cNvPr>
          <p:cNvSpPr/>
          <p:nvPr/>
        </p:nvSpPr>
        <p:spPr>
          <a:xfrm>
            <a:off x="128015" y="3501509"/>
            <a:ext cx="8069995" cy="447036"/>
          </a:xfrm>
          <a:prstGeom prst="rect">
            <a:avLst/>
          </a:prstGeom>
          <a:solidFill>
            <a:srgbClr val="1C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81C58CF-0EC6-4230-E204-9DEE454D0AD4}"/>
              </a:ext>
            </a:extLst>
          </p:cNvPr>
          <p:cNvSpPr txBox="1"/>
          <p:nvPr/>
        </p:nvSpPr>
        <p:spPr>
          <a:xfrm>
            <a:off x="128016" y="3520614"/>
            <a:ext cx="8069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lang="es-MX" sz="900" i="0" noProof="0" dirty="0">
                <a:solidFill>
                  <a:srgbClr val="FFFFFF"/>
                </a:solidFill>
                <a:latin typeface="Calibri"/>
              </a:rPr>
              <a:t>El proyecto fue desarrollado en un equipo con GPU NVIDIA RTX 4060 de 8 GB de VRAM, CPU AMD Ryzen 7 5700X y 16 GB de RAM, Windows 11. El desarrollo del código se realizó en Visual Studio Code y la interfaz interactiva fue implementada con </a:t>
            </a:r>
            <a:r>
              <a:rPr lang="es-MX" sz="900" i="0" noProof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lang="es-MX" sz="900" i="0" noProof="0" dirty="0">
                <a:solidFill>
                  <a:srgbClr val="FFFFFF"/>
                </a:solidFill>
                <a:latin typeface="Calibri"/>
              </a:rPr>
              <a:t>.</a:t>
            </a:r>
            <a:endParaRPr lang="es-CL" sz="900" i="0" noProof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1032</Words>
  <Application>Microsoft Office PowerPoint</Application>
  <PresentationFormat>Personalizado</PresentationFormat>
  <Paragraphs>171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ERNESTO SILVA MADARIAGA</cp:lastModifiedBy>
  <cp:revision>41</cp:revision>
  <dcterms:created xsi:type="dcterms:W3CDTF">2013-01-27T09:14:16Z</dcterms:created>
  <dcterms:modified xsi:type="dcterms:W3CDTF">2026-05-26T21:55:11Z</dcterms:modified>
  <cp:category/>
</cp:coreProperties>
</file>