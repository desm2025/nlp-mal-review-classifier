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4" r:id="rId9"/>
    <p:sldId id="265" r:id="rId10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38" d="100"/>
          <a:sy n="138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187867" y="639065"/>
            <a:ext cx="64922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2800" b="1" i="0" noProof="0" dirty="0">
                <a:solidFill>
                  <a:srgbClr val="FFFFFF"/>
                </a:solidFill>
                <a:latin typeface="Calibri"/>
              </a:rPr>
              <a:t>Clasificación de Sentimientos
en Reseñas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" y="2019809"/>
            <a:ext cx="446227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300" b="0" i="1" noProof="0" dirty="0">
                <a:solidFill>
                  <a:srgbClr val="B0C4DE"/>
                </a:solidFill>
                <a:latin typeface="Calibri"/>
              </a:rPr>
              <a:t>Modelo Hibrido DistilBERT + BiLSTM para Análisis de Opiniones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7867" y="2376425"/>
            <a:ext cx="4141678" cy="45719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187867" y="2486153"/>
            <a:ext cx="419709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500" b="1" i="0" noProof="0" dirty="0">
                <a:solidFill>
                  <a:srgbClr val="FFFFFF"/>
                </a:solidFill>
                <a:latin typeface="Calibri"/>
              </a:rPr>
              <a:t>Diego Silva Madariaga  |  Bastian Cortez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867" y="2815337"/>
            <a:ext cx="419709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0" i="0" noProof="0" dirty="0">
                <a:solidFill>
                  <a:srgbClr val="B0C4DE"/>
                </a:solidFill>
                <a:latin typeface="Calibri"/>
              </a:rPr>
              <a:t>Prof. Jaime Andrés Jiménez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1017" y="3139353"/>
            <a:ext cx="2565309" cy="774832"/>
          </a:xfrm>
          <a:prstGeom prst="rect">
            <a:avLst/>
          </a:prstGeom>
          <a:solidFill>
            <a:srgbClr val="102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261018" y="3225925"/>
            <a:ext cx="240776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050" noProof="0" dirty="0">
                <a:solidFill>
                  <a:srgbClr val="FFFFFF"/>
                </a:solidFill>
              </a:rPr>
              <a:t>Procesamiento de Lenguaje Natural</a:t>
            </a:r>
            <a:endParaRPr lang="es-CL" sz="1050" b="0" i="0" noProof="0" dirty="0">
              <a:solidFill>
                <a:srgbClr val="FFFFFF"/>
              </a:solidFill>
              <a:latin typeface="Calibri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s-CL" sz="1050" b="0" i="0" noProof="0" dirty="0">
                <a:solidFill>
                  <a:srgbClr val="FFFFFF"/>
                </a:solidFill>
                <a:latin typeface="Calibri"/>
              </a:rPr>
              <a:t>Ing. Civil en Ciencia de Datos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050" noProof="0" dirty="0">
                <a:solidFill>
                  <a:srgbClr val="FFFFFF"/>
                </a:solidFill>
              </a:rPr>
              <a:t>1er Semestre 2026</a:t>
            </a:r>
          </a:p>
          <a:p>
            <a:pPr algn="l"/>
            <a:endParaRPr lang="es-CL" sz="1050" b="0" i="0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732520" y="4919472"/>
            <a:ext cx="347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CL" sz="900" b="0" i="0" noProof="0" dirty="0">
                <a:solidFill>
                  <a:srgbClr val="55657A"/>
                </a:solidFill>
                <a:latin typeface="Calibri"/>
              </a:rPr>
              <a:t>1</a:t>
            </a:r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4768C0F8-AF49-7B4D-4B76-4F1D97F31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564" y="96895"/>
            <a:ext cx="836428" cy="8364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292608" y="73152"/>
            <a:ext cx="85587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2000" b="1" dirty="0">
                <a:solidFill>
                  <a:srgbClr val="FFFFFF"/>
                </a:solidFill>
                <a:latin typeface="Calibri"/>
              </a:rPr>
              <a:t>Objetivo y desafíos</a:t>
            </a:r>
            <a:endParaRPr lang="es-CL" sz="2000" b="1" i="0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92608" y="457200"/>
            <a:ext cx="85587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000" b="0" i="1" noProof="0" dirty="0">
                <a:solidFill>
                  <a:srgbClr val="B0C4DE"/>
                </a:solidFill>
                <a:latin typeface="Calibri"/>
              </a:rPr>
              <a:t>Clasificación binaria de opinión en reseñas de anime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6" name="Rectangle 5"/>
          <p:cNvSpPr/>
          <p:nvPr/>
        </p:nvSpPr>
        <p:spPr>
          <a:xfrm>
            <a:off x="256032" y="868680"/>
            <a:ext cx="4206240" cy="16597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292608" y="880943"/>
            <a:ext cx="3931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400" b="1" i="0" noProof="0" dirty="0">
                <a:solidFill>
                  <a:srgbClr val="1B3A6B"/>
                </a:solidFill>
                <a:latin typeface="Calibri"/>
              </a:rPr>
              <a:t>Definición del problema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188720"/>
            <a:ext cx="4206240" cy="36576"/>
          </a:xfrm>
          <a:prstGeom prst="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292608" y="1319903"/>
            <a:ext cx="4036119" cy="1156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200" b="1" i="0" noProof="0" dirty="0">
                <a:solidFill>
                  <a:srgbClr val="00B050"/>
                </a:solidFill>
                <a:latin typeface="Calibri"/>
              </a:rPr>
              <a:t>Tarea de clasificación binaria supervisada</a:t>
            </a:r>
          </a:p>
          <a:p>
            <a:pPr algn="l">
              <a:spcBef>
                <a:spcPts val="400"/>
              </a:spcBef>
            </a:pPr>
            <a:r>
              <a:rPr lang="es-CL" sz="1200" b="1" i="0" noProof="0" dirty="0">
                <a:solidFill>
                  <a:srgbClr val="55657A"/>
                </a:solidFill>
                <a:latin typeface="Calibri"/>
              </a:rPr>
              <a:t>Dado </a:t>
            </a:r>
            <a:r>
              <a:rPr lang="es-CL" sz="1200" b="1" i="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</a:rPr>
              <a:t>un texto x (reseña de anime), predecir y  {reseña positiva o negativa}</a:t>
            </a:r>
            <a:endParaRPr lang="es-CL" sz="1200" b="1" i="0" noProof="0" dirty="0">
              <a:solidFill>
                <a:srgbClr val="1B3A6B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lang="es-CL" sz="1200" b="1" i="0" noProof="0" dirty="0">
                <a:solidFill>
                  <a:srgbClr val="00B050"/>
                </a:solidFill>
                <a:latin typeface="Calibri"/>
              </a:rPr>
              <a:t>Fuente de datos</a:t>
            </a:r>
          </a:p>
          <a:p>
            <a:pPr algn="l">
              <a:spcBef>
                <a:spcPts val="300"/>
              </a:spcBef>
            </a:pPr>
            <a:r>
              <a:rPr lang="es-CL" sz="1200" b="1" i="0" noProof="0" dirty="0">
                <a:solidFill>
                  <a:srgbClr val="55657A"/>
                </a:solidFill>
                <a:latin typeface="Calibri"/>
              </a:rPr>
              <a:t>MyAnimeList (MAL), fuente de mi</a:t>
            </a:r>
            <a:r>
              <a:rPr lang="es-CL" sz="1200" b="1" dirty="0">
                <a:solidFill>
                  <a:srgbClr val="55657A"/>
                </a:solidFill>
                <a:latin typeface="Calibri"/>
              </a:rPr>
              <a:t>les </a:t>
            </a:r>
            <a:r>
              <a:rPr lang="es-CL" sz="1200" b="1" i="0" noProof="0" dirty="0">
                <a:solidFill>
                  <a:srgbClr val="55657A"/>
                </a:solidFill>
                <a:latin typeface="Calibri"/>
              </a:rPr>
              <a:t>de reseñas de usuarios.</a:t>
            </a:r>
            <a:endParaRPr lang="es-CL" sz="1200" b="0" i="0" noProof="0" dirty="0">
              <a:solidFill>
                <a:srgbClr val="55657A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681728" y="868680"/>
            <a:ext cx="4206240" cy="291712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681728" y="890087"/>
            <a:ext cx="3931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400" b="1" i="0" noProof="0" dirty="0">
                <a:solidFill>
                  <a:srgbClr val="1B3A6B"/>
                </a:solidFill>
                <a:latin typeface="Calibri"/>
              </a:rPr>
              <a:t>Desafíos del Dominio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1728" y="1188720"/>
            <a:ext cx="4206240" cy="36576"/>
          </a:xfrm>
          <a:prstGeom prst="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3" name="Rectangle 12"/>
          <p:cNvSpPr/>
          <p:nvPr/>
        </p:nvSpPr>
        <p:spPr>
          <a:xfrm>
            <a:off x="4754880" y="1261872"/>
            <a:ext cx="4005072" cy="630745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4828032" y="1307592"/>
            <a:ext cx="64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900" b="1" i="0" noProof="0" dirty="0">
                <a:solidFill>
                  <a:srgbClr val="1B3A6B"/>
                </a:solidFill>
                <a:latin typeface="Calibri"/>
              </a:rPr>
              <a:t>[</a:t>
            </a:r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Ironía</a:t>
            </a:r>
            <a:r>
              <a:rPr lang="es-CL" sz="900" b="1" i="0" noProof="0" dirty="0">
                <a:solidFill>
                  <a:srgbClr val="1B3A6B"/>
                </a:solidFill>
                <a:latin typeface="Calibri"/>
              </a:rPr>
              <a:t>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1298448"/>
            <a:ext cx="31089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Ironía</a:t>
            </a:r>
            <a:r>
              <a:rPr lang="es-CL" sz="1100" b="1" i="0" noProof="0" dirty="0">
                <a:solidFill>
                  <a:srgbClr val="1B3A6B"/>
                </a:solidFill>
                <a:latin typeface="Calibri"/>
              </a:rPr>
              <a:t> y sarcasmo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1554480"/>
            <a:ext cx="31089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55657A"/>
                </a:solidFill>
                <a:latin typeface="Calibri"/>
              </a:rPr>
              <a:t>Sentido inverso  e ironía difícil de capturar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1965578"/>
            <a:ext cx="4005072" cy="77724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4828032" y="201129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900" b="1" i="0" noProof="0" dirty="0">
                <a:solidFill>
                  <a:srgbClr val="1B3A6B"/>
                </a:solidFill>
                <a:latin typeface="Calibri"/>
              </a:rPr>
              <a:t>[</a:t>
            </a:r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Jerga</a:t>
            </a:r>
            <a:r>
              <a:rPr lang="es-CL" sz="900" b="1" i="0" noProof="0" dirty="0">
                <a:solidFill>
                  <a:srgbClr val="1B3A6B"/>
                </a:solidFill>
                <a:latin typeface="Calibri"/>
              </a:rPr>
              <a:t>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2002154"/>
            <a:ext cx="31089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1B3A6B"/>
                </a:solidFill>
                <a:latin typeface="Calibri"/>
              </a:rPr>
              <a:t>Jerga </a:t>
            </a:r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del</a:t>
            </a:r>
            <a:r>
              <a:rPr lang="es-CL" sz="1100" b="1" i="0" noProof="0" dirty="0">
                <a:solidFill>
                  <a:srgbClr val="1B3A6B"/>
                </a:solidFill>
                <a:latin typeface="Calibri"/>
              </a:rPr>
              <a:t> dominio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258186"/>
            <a:ext cx="3108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55657A"/>
                </a:solidFill>
                <a:latin typeface="Calibri"/>
              </a:rPr>
              <a:t>Nombres de series, personajes y expresiones especificas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2852546"/>
            <a:ext cx="4005072" cy="77724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6" name="TextBox 25"/>
          <p:cNvSpPr txBox="1"/>
          <p:nvPr/>
        </p:nvSpPr>
        <p:spPr>
          <a:xfrm>
            <a:off x="4828032" y="2876123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900" b="1" i="0" noProof="0" dirty="0">
                <a:solidFill>
                  <a:srgbClr val="1B3A6B"/>
                </a:solidFill>
                <a:latin typeface="Calibri"/>
              </a:rPr>
              <a:t>[</a:t>
            </a:r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Sesgo</a:t>
            </a:r>
            <a:r>
              <a:rPr lang="es-CL" sz="900" b="1" i="0" noProof="0" dirty="0">
                <a:solidFill>
                  <a:srgbClr val="1B3A6B"/>
                </a:solidFill>
                <a:latin typeface="Calibri"/>
              </a:rPr>
              <a:t>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2889122"/>
            <a:ext cx="31089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Sesgo positivo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3145154"/>
            <a:ext cx="3108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lang="es-CL" sz="1200" b="1" dirty="0">
                <a:solidFill>
                  <a:srgbClr val="55657A"/>
                </a:solidFill>
              </a:rPr>
              <a:t>Las reseñas en MAL en general están sesgadas hacia calificaciones positivas.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4919472"/>
            <a:ext cx="347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CL" sz="900" b="0" i="0" noProof="0" dirty="0">
                <a:solidFill>
                  <a:srgbClr val="55657A"/>
                </a:solidFill>
                <a:latin typeface="Calibri"/>
              </a:rPr>
              <a:t>2</a:t>
            </a:r>
          </a:p>
        </p:txBody>
      </p:sp>
      <p:pic>
        <p:nvPicPr>
          <p:cNvPr id="35" name="Imagen 34">
            <a:extLst>
              <a:ext uri="{FF2B5EF4-FFF2-40B4-BE49-F238E27FC236}">
                <a16:creationId xmlns:a16="http://schemas.microsoft.com/office/drawing/2014/main" id="{0EC19C4D-C0B4-A623-6418-D97858BDB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58" y="2677090"/>
            <a:ext cx="4061988" cy="22174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292608" y="73152"/>
            <a:ext cx="85587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2000" b="1" i="0" noProof="0" dirty="0">
                <a:solidFill>
                  <a:srgbClr val="FFFFFF"/>
                </a:solidFill>
                <a:latin typeface="Calibri"/>
              </a:rPr>
              <a:t>Dataset y Preprocesamiento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457200"/>
            <a:ext cx="85587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000" b="0" i="1" noProof="0" dirty="0">
                <a:solidFill>
                  <a:srgbClr val="B0C4DE"/>
                </a:solidFill>
                <a:latin typeface="Calibri"/>
              </a:rPr>
              <a:t>Recolección, limpieza y balanceo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6" name="Rectangle 5"/>
          <p:cNvSpPr/>
          <p:nvPr/>
        </p:nvSpPr>
        <p:spPr>
          <a:xfrm>
            <a:off x="429768" y="3910951"/>
            <a:ext cx="1938528" cy="82296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429768" y="3965815"/>
            <a:ext cx="1938528" cy="452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2400" b="1" i="0" noProof="0" dirty="0">
                <a:solidFill>
                  <a:srgbClr val="1B3A6B"/>
                </a:solidFill>
                <a:latin typeface="Calibri"/>
              </a:rPr>
              <a:t>14,912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4363579"/>
            <a:ext cx="19385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000" b="0" i="0" noProof="0" dirty="0">
                <a:solidFill>
                  <a:srgbClr val="55657A"/>
                </a:solidFill>
                <a:latin typeface="Calibri"/>
              </a:rPr>
              <a:t>Reseñas totales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505456" y="3910951"/>
            <a:ext cx="1938528" cy="8229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2505456" y="3965815"/>
            <a:ext cx="1938528" cy="452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2400" b="1" i="0" noProof="0" dirty="0">
                <a:solidFill>
                  <a:srgbClr val="2E7D32"/>
                </a:solidFill>
                <a:latin typeface="Calibri"/>
              </a:rPr>
              <a:t>10,736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5456" y="4363579"/>
            <a:ext cx="1938528" cy="345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000" b="0" i="0" noProof="0" dirty="0">
                <a:solidFill>
                  <a:srgbClr val="55657A"/>
                </a:solidFill>
                <a:latin typeface="Calibri"/>
              </a:rPr>
              <a:t>Train (72%)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81144" y="3910951"/>
            <a:ext cx="1938528" cy="82296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4581144" y="3965815"/>
            <a:ext cx="1938528" cy="452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2400" b="1" i="0" noProof="0" dirty="0">
                <a:solidFill>
                  <a:srgbClr val="1B3A6B"/>
                </a:solidFill>
                <a:latin typeface="Calibri"/>
              </a:rPr>
              <a:t>1,193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4363579"/>
            <a:ext cx="19385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000" b="0" i="0" noProof="0" dirty="0">
                <a:solidFill>
                  <a:srgbClr val="55657A"/>
                </a:solidFill>
                <a:latin typeface="Calibri"/>
              </a:rPr>
              <a:t>Validación (8%)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56832" y="3910951"/>
            <a:ext cx="1938528" cy="8229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6656832" y="3965815"/>
            <a:ext cx="1938528" cy="452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2400" b="1" i="0" noProof="0" dirty="0">
                <a:solidFill>
                  <a:srgbClr val="2E7D32"/>
                </a:solidFill>
                <a:latin typeface="Calibri"/>
              </a:rPr>
              <a:t>2,983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363579"/>
            <a:ext cx="1938528" cy="345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000" b="0" i="0" noProof="0" dirty="0">
                <a:solidFill>
                  <a:srgbClr val="55657A"/>
                </a:solidFill>
                <a:latin typeface="Calibri"/>
              </a:rPr>
              <a:t>Test (20%)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26" y="941421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1. Recolección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6304" y="1197864"/>
            <a:ext cx="3200400" cy="73152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0" name="TextBox 19"/>
          <p:cNvSpPr txBox="1"/>
          <p:nvPr/>
        </p:nvSpPr>
        <p:spPr>
          <a:xfrm>
            <a:off x="201168" y="1203983"/>
            <a:ext cx="3017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1B3A6B"/>
                </a:solidFill>
                <a:latin typeface="Calibri"/>
              </a:rPr>
              <a:t>scraper_mal.py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" y="1378733"/>
            <a:ext cx="314553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Reseñas generales de MyAnimeList.
Se extrajeron un </a:t>
            </a:r>
            <a:r>
              <a:rPr lang="es-CL" sz="1100" b="1" i="0" noProof="0" dirty="0" err="1">
                <a:solidFill>
                  <a:srgbClr val="1A1A2E"/>
                </a:solidFill>
                <a:latin typeface="Calibri"/>
              </a:rPr>
              <a:t>aprox</a:t>
            </a:r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 de 50000 reseñas desbalanceadas.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" y="2011680"/>
            <a:ext cx="3200400" cy="73152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201168" y="2017224"/>
            <a:ext cx="3017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8B0000"/>
                </a:solidFill>
                <a:latin typeface="Calibri"/>
              </a:rPr>
              <a:t>scraper_negativos.py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" y="2223236"/>
            <a:ext cx="30175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Muestreo estratégico de reseñas negativas. mitiga el sesgo positivo natural del las reseñas.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6432" y="955452"/>
            <a:ext cx="27432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2. Limpieza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990487"/>
            <a:ext cx="23591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3. Balanceo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1243584"/>
            <a:ext cx="2331720" cy="530352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3" name="TextBox 32"/>
          <p:cNvSpPr txBox="1"/>
          <p:nvPr/>
        </p:nvSpPr>
        <p:spPr>
          <a:xfrm>
            <a:off x="6565392" y="1271016"/>
            <a:ext cx="21762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8B0000"/>
                </a:solidFill>
                <a:latin typeface="Calibri"/>
              </a:rPr>
              <a:t>ANTES — Sesgado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65392" y="1453896"/>
            <a:ext cx="21762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950" b="1" i="0" noProof="0" dirty="0">
                <a:solidFill>
                  <a:srgbClr val="55657A"/>
                </a:solidFill>
                <a:latin typeface="Calibri"/>
              </a:rPr>
              <a:t>~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70% Positivas / ~30% Negativas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92240" y="1856232"/>
            <a:ext cx="2331720" cy="45720"/>
          </a:xfrm>
          <a:prstGeom prst="rect">
            <a:avLst/>
          </a:prstGeom>
          <a:solidFill>
            <a:srgbClr val="556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7" name="Rectangle 36"/>
          <p:cNvSpPr/>
          <p:nvPr/>
        </p:nvSpPr>
        <p:spPr>
          <a:xfrm>
            <a:off x="6492240" y="1993392"/>
            <a:ext cx="2331720" cy="530352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8" name="TextBox 37"/>
          <p:cNvSpPr txBox="1"/>
          <p:nvPr/>
        </p:nvSpPr>
        <p:spPr>
          <a:xfrm>
            <a:off x="6565392" y="2020824"/>
            <a:ext cx="21762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2E7D32"/>
                </a:solidFill>
                <a:latin typeface="Calibri"/>
              </a:rPr>
              <a:t>DESPUES — Equilibrado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65392" y="2203704"/>
            <a:ext cx="21762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50% Positivas / 50% Negativas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8016" y="2889503"/>
            <a:ext cx="8631936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1" name="TextBox 40"/>
          <p:cNvSpPr txBox="1"/>
          <p:nvPr/>
        </p:nvSpPr>
        <p:spPr>
          <a:xfrm>
            <a:off x="274320" y="2926079"/>
            <a:ext cx="2560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Por que balancear?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" y="3145536"/>
            <a:ext cx="83210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Con un dataset desbalanceado el modelo puede lograr alta Accuracy prediciendo siempre la clase mayoritaria. El balanceo 50/50 garantiza que F1, 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Precision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y 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Recall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reflejen el rendimiento real.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07224" y="4443983"/>
            <a:ext cx="347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CL" sz="900" b="0" i="0" noProof="0" dirty="0">
                <a:solidFill>
                  <a:srgbClr val="55657A"/>
                </a:solidFill>
                <a:latin typeface="Calibri"/>
              </a:rPr>
              <a:t>3</a:t>
            </a:r>
          </a:p>
        </p:txBody>
      </p:sp>
      <p:sp>
        <p:nvSpPr>
          <p:cNvPr id="44" name="Rectangle 5">
            <a:extLst>
              <a:ext uri="{FF2B5EF4-FFF2-40B4-BE49-F238E27FC236}">
                <a16:creationId xmlns:a16="http://schemas.microsoft.com/office/drawing/2014/main" id="{4B0D5039-9D25-6608-CFBD-46FCABDB716B}"/>
              </a:ext>
            </a:extLst>
          </p:cNvPr>
          <p:cNvSpPr/>
          <p:nvPr/>
        </p:nvSpPr>
        <p:spPr>
          <a:xfrm>
            <a:off x="3511296" y="1207579"/>
            <a:ext cx="2834640" cy="1213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6" name="TextBox 25"/>
          <p:cNvSpPr txBox="1"/>
          <p:nvPr/>
        </p:nvSpPr>
        <p:spPr>
          <a:xfrm>
            <a:off x="3511296" y="1267503"/>
            <a:ext cx="260604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Eliminar ruido (caracteres especiales)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100" b="1" dirty="0">
                <a:solidFill>
                  <a:srgbClr val="1A1A2E"/>
                </a:solidFill>
              </a:rPr>
              <a:t>Normalizar mayúsculas / minúsculas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100" b="1" dirty="0">
                <a:solidFill>
                  <a:srgbClr val="1A1A2E"/>
                </a:solidFill>
              </a:rPr>
              <a:t>Tokenizacion WordPiece (DistilBERT)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100" b="1" dirty="0">
                <a:solidFill>
                  <a:srgbClr val="1A1A2E"/>
                </a:solidFill>
              </a:rPr>
              <a:t>max_len = 320 tokens (cubre reseñas largas)</a:t>
            </a:r>
            <a:endParaRPr lang="es-CL" sz="1000" b="1" dirty="0">
              <a:solidFill>
                <a:srgbClr val="1A1A2E"/>
              </a:solidFill>
            </a:endParaRPr>
          </a:p>
          <a:p>
            <a:endParaRPr lang="es-CL" sz="1000" b="1" i="0" noProof="0" dirty="0">
              <a:solidFill>
                <a:srgbClr val="1A1A2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292608" y="73152"/>
            <a:ext cx="85587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2000" b="1" i="0" noProof="0" dirty="0">
                <a:solidFill>
                  <a:srgbClr val="FFFFFF"/>
                </a:solidFill>
                <a:latin typeface="Calibri"/>
              </a:rPr>
              <a:t>Fundamento Teórico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457200"/>
            <a:ext cx="85587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000" i="1" dirty="0">
                <a:solidFill>
                  <a:srgbClr val="B0C4DE"/>
                </a:solidFill>
                <a:latin typeface="Calibri"/>
              </a:rPr>
              <a:t>P</a:t>
            </a:r>
            <a:r>
              <a:rPr lang="es-CL" sz="1000" b="0" i="1" noProof="0" dirty="0" err="1">
                <a:solidFill>
                  <a:srgbClr val="B0C4DE"/>
                </a:solidFill>
                <a:latin typeface="Calibri"/>
              </a:rPr>
              <a:t>or</a:t>
            </a:r>
            <a:r>
              <a:rPr lang="es-CL" sz="1000" b="0" i="1" noProof="0" dirty="0">
                <a:solidFill>
                  <a:srgbClr val="B0C4DE"/>
                </a:solidFill>
                <a:latin typeface="Calibri"/>
              </a:rPr>
              <a:t> que DistilBERT + BiLSTM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6" name="Rectangle 5"/>
          <p:cNvSpPr/>
          <p:nvPr/>
        </p:nvSpPr>
        <p:spPr>
          <a:xfrm>
            <a:off x="256032" y="877824"/>
            <a:ext cx="1938528" cy="987552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292608" y="942108"/>
            <a:ext cx="1828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200" b="1" i="0" noProof="0" dirty="0">
                <a:solidFill>
                  <a:srgbClr val="FFFFFF"/>
                </a:solidFill>
                <a:latin typeface="Calibri"/>
              </a:rPr>
              <a:t>Bag </a:t>
            </a:r>
            <a:r>
              <a:rPr lang="es-CL" sz="1200" b="1" i="0" noProof="0" dirty="0" err="1">
                <a:solidFill>
                  <a:srgbClr val="FFFFFF"/>
                </a:solidFill>
                <a:latin typeface="Calibri"/>
              </a:rPr>
              <a:t>of</a:t>
            </a:r>
            <a:r>
              <a:rPr lang="es-CL" sz="1200" b="1" i="0" noProof="0" dirty="0">
                <a:solidFill>
                  <a:srgbClr val="FFFFFF"/>
                </a:solidFill>
                <a:latin typeface="Calibri"/>
              </a:rPr>
              <a:t> Words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89304"/>
            <a:ext cx="1938528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310896" y="1316736"/>
            <a:ext cx="1828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Sin orden ni contexto.
Pierde sintaxis.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1266774"/>
            <a:ext cx="25603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300" b="1" i="0" noProof="0" dirty="0">
                <a:solidFill>
                  <a:srgbClr val="1B3A6B"/>
                </a:solidFill>
                <a:latin typeface="Calibri"/>
              </a:rPr>
              <a:t>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877824"/>
            <a:ext cx="1938528" cy="98755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2495065" y="921881"/>
            <a:ext cx="1828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200" b="1" i="0" noProof="0" dirty="0">
                <a:solidFill>
                  <a:srgbClr val="FFFFFF"/>
                </a:solidFill>
                <a:latin typeface="Calibri"/>
              </a:rPr>
              <a:t>Word2Vec GloVe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8880" y="1289304"/>
            <a:ext cx="1938528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2466386" y="1289304"/>
            <a:ext cx="188615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Embeddings estáticos.
'banco’ (Parque) = 'banco’ (dinero).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9902" y="1248376"/>
            <a:ext cx="25603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300" b="1" i="0" noProof="0" dirty="0">
                <a:solidFill>
                  <a:srgbClr val="1B3A6B"/>
                </a:solidFill>
                <a:latin typeface="Calibri"/>
              </a:rPr>
              <a:t>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877824"/>
            <a:ext cx="1938528" cy="9875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4736592" y="914400"/>
            <a:ext cx="1828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200" b="1" i="0" noProof="0" dirty="0">
                <a:solidFill>
                  <a:srgbClr val="FFFFFF"/>
                </a:solidFill>
                <a:latin typeface="Calibri"/>
              </a:rPr>
              <a:t>DistilBERT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1728" y="1289304"/>
            <a:ext cx="1938528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4736592" y="1365350"/>
            <a:ext cx="1828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Embeddings contextuales.
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1230532"/>
            <a:ext cx="25603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300" b="1" i="0" noProof="0" dirty="0">
                <a:solidFill>
                  <a:srgbClr val="1B3A6B"/>
                </a:solidFill>
                <a:latin typeface="Calibri"/>
              </a:rPr>
              <a:t>&gt;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94576" y="877824"/>
            <a:ext cx="1938528" cy="9875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6949440" y="932965"/>
            <a:ext cx="1828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200" b="1" i="0" noProof="0" dirty="0">
                <a:solidFill>
                  <a:srgbClr val="FFFFFF"/>
                </a:solidFill>
                <a:latin typeface="Calibri"/>
              </a:rPr>
              <a:t>DistilBERT + BiLSTM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94576" y="1289304"/>
            <a:ext cx="1938528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4" name="TextBox 23"/>
          <p:cNvSpPr txBox="1"/>
          <p:nvPr/>
        </p:nvSpPr>
        <p:spPr>
          <a:xfrm>
            <a:off x="6949440" y="1289304"/>
            <a:ext cx="182880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Contexto global </a:t>
            </a:r>
          </a:p>
          <a:p>
            <a:pPr algn="ctr"/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+ </a:t>
            </a:r>
          </a:p>
          <a:p>
            <a:pPr algn="ctr"/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dependencias secuenciales.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" y="1993392"/>
            <a:ext cx="8631936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7" name="TextBox 26"/>
          <p:cNvSpPr txBox="1"/>
          <p:nvPr/>
        </p:nvSpPr>
        <p:spPr>
          <a:xfrm>
            <a:off x="356615" y="1987595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Por que DistilBERT y no BERT completo?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" y="2286000"/>
            <a:ext cx="8631936" cy="27432"/>
          </a:xfrm>
          <a:prstGeom prst="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9" name="TextBox 28"/>
          <p:cNvSpPr txBox="1"/>
          <p:nvPr/>
        </p:nvSpPr>
        <p:spPr>
          <a:xfrm>
            <a:off x="365760" y="2340864"/>
            <a:ext cx="2633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2E7D32"/>
                </a:solidFill>
                <a:latin typeface="Calibri"/>
              </a:rPr>
              <a:t>Restricción de hardware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5596" y="2526486"/>
            <a:ext cx="282078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Entrenamiento local. BERT-base tiene 110M parámetros y excede la capacidad disponible.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6120" y="2340864"/>
            <a:ext cx="2633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2E7D32"/>
                </a:solidFill>
                <a:latin typeface="Calibri"/>
              </a:rPr>
              <a:t>DistilBERT — eficiencia comprobada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6120" y="2540341"/>
            <a:ext cx="263347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66M parámetros (40% menos). Retiene ~97% del rendimiento de BERT.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79" y="2340864"/>
            <a:ext cx="2633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2E7D32"/>
                </a:solidFill>
                <a:latin typeface="Calibri"/>
              </a:rPr>
              <a:t>Trade-off justificado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34932" y="2545372"/>
            <a:ext cx="263347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100" b="1" i="0" noProof="0" dirty="0">
                <a:solidFill>
                  <a:srgbClr val="1A1A2E"/>
                </a:solidFill>
                <a:latin typeface="Calibri"/>
              </a:rPr>
              <a:t>60% más rápido en la inferencia (procesamiento/predicción)</a:t>
            </a:r>
            <a:endParaRPr lang="es-CL" sz="950" b="1" i="0" noProof="0" dirty="0">
              <a:solidFill>
                <a:srgbClr val="1A1A2E"/>
              </a:solidFill>
              <a:latin typeface="Calibr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56033" y="3236976"/>
            <a:ext cx="5348132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7" name="TextBox 36"/>
          <p:cNvSpPr txBox="1"/>
          <p:nvPr/>
        </p:nvSpPr>
        <p:spPr>
          <a:xfrm>
            <a:off x="375596" y="3258895"/>
            <a:ext cx="563034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Por que BiLSTM?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3" y="3529584"/>
            <a:ext cx="5348132" cy="67285"/>
          </a:xfrm>
          <a:prstGeom prst="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9" name="TextBox 38"/>
          <p:cNvSpPr txBox="1"/>
          <p:nvPr/>
        </p:nvSpPr>
        <p:spPr>
          <a:xfrm>
            <a:off x="365760" y="3615241"/>
            <a:ext cx="2633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2E7D32"/>
                </a:solidFill>
                <a:latin typeface="Calibri"/>
              </a:rPr>
              <a:t>Limitación del token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5" y="3876472"/>
            <a:ext cx="28397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El CLS de DistilBERT comprime</a:t>
            </a:r>
            <a:r>
              <a:rPr lang="es-MX" sz="1100" b="1" dirty="0"/>
              <a:t> toda la secuencia a un único vector de, lo que puede hacer que se pierda estructura secuencial y detalles locales en textos largos</a:t>
            </a:r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93166" y="3630231"/>
            <a:ext cx="2633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2E7D32"/>
                </a:solidFill>
                <a:latin typeface="Calibri"/>
              </a:rPr>
              <a:t>BiLSTM sobre secuencia completa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93166" y="3885395"/>
            <a:ext cx="2633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100" b="1" i="0" noProof="0" dirty="0">
                <a:solidFill>
                  <a:srgbClr val="1A1A2E"/>
                </a:solidFill>
                <a:latin typeface="Calibri"/>
              </a:rPr>
              <a:t>Procesa los hidden states de todos los tokens en ambas direcciones, preservando el contexto secuencial explícito a lo largo de toda la secuencia.</a:t>
            </a:r>
            <a:endParaRPr lang="es-CL" sz="1100" b="1" i="0" noProof="0" dirty="0">
              <a:solidFill>
                <a:srgbClr val="1A1A2E"/>
              </a:solidFill>
              <a:latin typeface="Calibr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732520" y="4919472"/>
            <a:ext cx="347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CL" sz="900" b="0" i="0" noProof="0" dirty="0">
                <a:solidFill>
                  <a:srgbClr val="55657A"/>
                </a:solidFill>
                <a:latin typeface="Calibri"/>
              </a:rPr>
              <a:t>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6032" y="3236976"/>
            <a:ext cx="73152" cy="16642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6" name="Rectangle 25"/>
          <p:cNvSpPr/>
          <p:nvPr/>
        </p:nvSpPr>
        <p:spPr>
          <a:xfrm>
            <a:off x="256032" y="1993392"/>
            <a:ext cx="73152" cy="11155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46" name="Imagen 45">
            <a:extLst>
              <a:ext uri="{FF2B5EF4-FFF2-40B4-BE49-F238E27FC236}">
                <a16:creationId xmlns:a16="http://schemas.microsoft.com/office/drawing/2014/main" id="{557EA4A3-AEFC-CC38-1A87-9E1CF4DAE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7701" y="3255856"/>
            <a:ext cx="2971800" cy="162230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diagram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35766"/>
            <a:ext cx="8503920" cy="4639345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292608" y="155353"/>
            <a:ext cx="85587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2000" b="1" i="0" noProof="0" dirty="0">
                <a:solidFill>
                  <a:srgbClr val="FFFFFF"/>
                </a:solidFill>
                <a:latin typeface="Calibri"/>
              </a:rPr>
              <a:t>Arquitectura del Modelo — Pipeline Completo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732520" y="4919472"/>
            <a:ext cx="347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CL" sz="900" b="0" i="0" noProof="0" dirty="0">
                <a:solidFill>
                  <a:srgbClr val="55657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292608" y="73152"/>
            <a:ext cx="85587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2000" b="1" i="0" noProof="0" dirty="0">
                <a:solidFill>
                  <a:srgbClr val="FFFFFF"/>
                </a:solidFill>
                <a:latin typeface="Calibri"/>
              </a:rPr>
              <a:t>Preentrenamiento Continuo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457200"/>
            <a:ext cx="85587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000" b="0" i="1" noProof="0" dirty="0">
                <a:solidFill>
                  <a:srgbClr val="B0C4DE"/>
                </a:solidFill>
                <a:latin typeface="Calibri"/>
              </a:rPr>
              <a:t>Masked Language Modeling sobre corpus de anime para adaptar DistilBERT al dominio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6" name="Rectangle 5"/>
          <p:cNvSpPr/>
          <p:nvPr/>
        </p:nvSpPr>
        <p:spPr>
          <a:xfrm>
            <a:off x="310896" y="1001126"/>
            <a:ext cx="5349240" cy="261352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420624" y="1010270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Continued Pretraining MLM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1293734"/>
            <a:ext cx="5349240" cy="27432"/>
          </a:xfrm>
          <a:prstGeom prst="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438912" y="1357742"/>
            <a:ext cx="5084064" cy="21826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100" b="1" i="0" noProof="0" dirty="0">
                <a:solidFill>
                  <a:srgbClr val="00B050"/>
                </a:solidFill>
                <a:latin typeface="Calibri"/>
              </a:rPr>
              <a:t>DistilBERT fue preentrenado con texto general (Wikipedia + BookCorpus).</a:t>
            </a:r>
          </a:p>
          <a:p>
            <a:pPr algn="l">
              <a:spcBef>
                <a:spcPts val="800"/>
              </a:spcBef>
            </a:pPr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No conoce bien el vocabulario especifico del dominio anime:</a:t>
            </a:r>
          </a:p>
          <a:p>
            <a:pPr marL="171450" indent="-1714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 Nombres de series: '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Shingeki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no 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Kyojin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', '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Fullmetal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'</a:t>
            </a:r>
          </a:p>
          <a:p>
            <a:pPr marL="171450" indent="-1714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 Personajes: 'Edward Elric', 'Naruto'</a:t>
            </a:r>
          </a:p>
          <a:p>
            <a:pPr marL="171450" indent="-1714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 Jerga fan: '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plot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armor', '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waifu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', </a:t>
            </a:r>
          </a:p>
          <a:p>
            <a:pPr algn="l">
              <a:spcBef>
                <a:spcPts val="400"/>
              </a:spcBef>
            </a:pPr>
            <a:r>
              <a:rPr lang="es-CL" sz="1100" b="1" i="0" noProof="0" dirty="0">
                <a:solidFill>
                  <a:srgbClr val="00B050"/>
                </a:solidFill>
                <a:latin typeface="Calibri"/>
              </a:rPr>
              <a:t>Masked Language Modeling (MLM):</a:t>
            </a:r>
          </a:p>
          <a:p>
            <a:pPr algn="l">
              <a:spcBef>
                <a:spcPts val="300"/>
              </a:spcBef>
            </a:pP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Enmascarar tokens al azar y entrenar al modelo para predecirlos. El modelo aprende representaciones del dominio anime.</a:t>
            </a:r>
          </a:p>
          <a:p>
            <a:pPr algn="l">
              <a:spcBef>
                <a:spcPts val="400"/>
              </a:spcBef>
            </a:pPr>
            <a:r>
              <a:rPr lang="es-CL" sz="1100" b="1" i="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</a:rPr>
              <a:t>Script: pretrain_mlm.py</a:t>
            </a:r>
          </a:p>
          <a:p>
            <a:pPr algn="l">
              <a:spcBef>
                <a:spcPts val="300"/>
              </a:spcBef>
            </a:pPr>
            <a:r>
              <a:rPr lang="es-CL" sz="1100" b="1" i="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</a:rPr>
              <a:t>Salida: </a:t>
            </a:r>
            <a:r>
              <a:rPr lang="es-CL" sz="1100" b="1" i="0" noProof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</a:rPr>
              <a:t>models</a:t>
            </a:r>
            <a:r>
              <a:rPr lang="es-CL" sz="1100" b="1" i="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</a:rPr>
              <a:t>/</a:t>
            </a:r>
            <a:r>
              <a:rPr lang="es-CL" sz="1100" b="1" i="0" noProof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</a:rPr>
              <a:t>distilbert_anime_pretrained</a:t>
            </a:r>
            <a:endParaRPr lang="es-CL" sz="1100" b="1" i="0" noProof="0" dirty="0">
              <a:solidFill>
                <a:schemeClr val="tx1">
                  <a:lumMod val="65000"/>
                  <a:lumOff val="35000"/>
                </a:schemeClr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861304" y="1001126"/>
            <a:ext cx="3081528" cy="2662567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5998464" y="103770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150" b="1" i="0" noProof="0" dirty="0">
                <a:solidFill>
                  <a:srgbClr val="FFFFFF"/>
                </a:solidFill>
                <a:latin typeface="Calibri"/>
              </a:rPr>
              <a:t>Impacto medido en test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61304" y="1293734"/>
            <a:ext cx="3081528" cy="27432"/>
          </a:xfrm>
          <a:prstGeom prst="rect">
            <a:avLst/>
          </a:prstGeom>
          <a:solidFill>
            <a:srgbClr val="355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4" name="Rectangle 13"/>
          <p:cNvSpPr/>
          <p:nvPr/>
        </p:nvSpPr>
        <p:spPr>
          <a:xfrm>
            <a:off x="5925312" y="1366886"/>
            <a:ext cx="2926080" cy="1005840"/>
          </a:xfrm>
          <a:prstGeom prst="rect">
            <a:avLst/>
          </a:prstGeom>
          <a:solidFill>
            <a:srgbClr val="24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5925312" y="140346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000" b="0" i="0" noProof="0" dirty="0">
                <a:solidFill>
                  <a:srgbClr val="B0C4DE"/>
                </a:solidFill>
                <a:latin typeface="Calibri"/>
              </a:rPr>
              <a:t>SIN preentrenamiento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25312" y="1604630"/>
            <a:ext cx="2926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3800" b="1" i="0" noProof="0" dirty="0">
                <a:solidFill>
                  <a:srgbClr val="FFCC44"/>
                </a:solidFill>
                <a:latin typeface="Calibri"/>
              </a:rPr>
              <a:t>~88%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61304" y="2354438"/>
            <a:ext cx="3081528" cy="274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8" name="Rectangle 17"/>
          <p:cNvSpPr/>
          <p:nvPr/>
        </p:nvSpPr>
        <p:spPr>
          <a:xfrm>
            <a:off x="5925312" y="2409302"/>
            <a:ext cx="2926080" cy="1097280"/>
          </a:xfrm>
          <a:prstGeom prst="rect">
            <a:avLst/>
          </a:prstGeom>
          <a:solidFill>
            <a:srgbClr val="185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5925312" y="244587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000" b="0" i="0" noProof="0" dirty="0">
                <a:solidFill>
                  <a:srgbClr val="B0D4B0"/>
                </a:solidFill>
                <a:latin typeface="Calibri"/>
              </a:rPr>
              <a:t>CON preentrenamiento MLM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25312" y="2647046"/>
            <a:ext cx="2926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3400" b="1" i="0" noProof="0" dirty="0">
                <a:solidFill>
                  <a:srgbClr val="FFFFFF"/>
                </a:solidFill>
                <a:latin typeface="Calibri"/>
              </a:rPr>
              <a:t>91.82%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25312" y="3488294"/>
            <a:ext cx="2926080" cy="45719"/>
          </a:xfrm>
          <a:prstGeom prst="rect">
            <a:avLst/>
          </a:prstGeom>
          <a:solidFill>
            <a:srgbClr val="185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3" name="Rectangle 22"/>
          <p:cNvSpPr/>
          <p:nvPr/>
        </p:nvSpPr>
        <p:spPr>
          <a:xfrm>
            <a:off x="310896" y="3794617"/>
            <a:ext cx="8631936" cy="40011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4" name="TextBox 23"/>
          <p:cNvSpPr txBox="1"/>
          <p:nvPr/>
        </p:nvSpPr>
        <p:spPr>
          <a:xfrm>
            <a:off x="420624" y="3815815"/>
            <a:ext cx="8321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000" b="1" i="0" noProof="0" dirty="0">
                <a:solidFill>
                  <a:srgbClr val="1A1A2E"/>
                </a:solidFill>
                <a:latin typeface="Calibri"/>
              </a:rPr>
              <a:t>El costo computacional del preentrenamiento MLM se justifica por la ganancia de +3.82% en </a:t>
            </a:r>
            <a:r>
              <a:rPr lang="es-CL" sz="1000" b="1" i="0" noProof="0" dirty="0" err="1">
                <a:solidFill>
                  <a:srgbClr val="1A1A2E"/>
                </a:solidFill>
                <a:latin typeface="Calibri"/>
              </a:rPr>
              <a:t>accuracy</a:t>
            </a:r>
            <a:r>
              <a:rPr lang="es-CL" sz="1000" b="1" i="0" noProof="0" dirty="0">
                <a:solidFill>
                  <a:srgbClr val="1A1A2E"/>
                </a:solidFill>
                <a:latin typeface="Calibri"/>
              </a:rPr>
              <a:t>. El modelo aprende representaciones especificas del dominio que el DistilBERT base no captura.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4919472"/>
            <a:ext cx="347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CL" sz="900" b="0" i="0" noProof="0" dirty="0">
                <a:solidFill>
                  <a:srgbClr val="55657A"/>
                </a:solidFill>
                <a:latin typeface="Calibri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1001126"/>
            <a:ext cx="54864" cy="2613521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Flecha: hacia abajo 45">
            <a:extLst>
              <a:ext uri="{FF2B5EF4-FFF2-40B4-BE49-F238E27FC236}">
                <a16:creationId xmlns:a16="http://schemas.microsoft.com/office/drawing/2014/main" id="{ACCB8289-09AF-55BE-2B86-5E231C1BCCF7}"/>
              </a:ext>
            </a:extLst>
          </p:cNvPr>
          <p:cNvSpPr/>
          <p:nvPr/>
        </p:nvSpPr>
        <p:spPr>
          <a:xfrm rot="16200000">
            <a:off x="4274819" y="2121406"/>
            <a:ext cx="640081" cy="667512"/>
          </a:xfrm>
          <a:prstGeom prst="downArrow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292608" y="73152"/>
            <a:ext cx="85587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2000" b="1" i="0" noProof="0" dirty="0">
                <a:solidFill>
                  <a:srgbClr val="FFFFFF"/>
                </a:solidFill>
                <a:latin typeface="Calibri"/>
              </a:rPr>
              <a:t>Estrategia de Entrenamiento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457200"/>
            <a:ext cx="85587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000" b="0" i="1" noProof="0" dirty="0">
                <a:solidFill>
                  <a:srgbClr val="B0C4DE"/>
                </a:solidFill>
                <a:latin typeface="Calibri"/>
              </a:rPr>
              <a:t>Dos fases — hiperparametros seleccionados por mejor rendimiento en validación.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6" name="Rectangle 5"/>
          <p:cNvSpPr/>
          <p:nvPr/>
        </p:nvSpPr>
        <p:spPr>
          <a:xfrm>
            <a:off x="256032" y="877824"/>
            <a:ext cx="4005072" cy="312724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>
              <a:solidFill>
                <a:schemeClr val="bg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56032" y="877824"/>
            <a:ext cx="4005072" cy="329184"/>
          </a:xfrm>
          <a:prstGeom prst="rect">
            <a:avLst/>
          </a:prstGeom>
          <a:solidFill>
            <a:srgbClr val="0D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384048" y="905256"/>
            <a:ext cx="37673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FFFFFF"/>
                </a:solidFill>
                <a:latin typeface="Calibri"/>
              </a:rPr>
              <a:t>FASE 1 — DistilBERT Congelado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170432"/>
            <a:ext cx="3767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000" b="0" i="0" noProof="0" dirty="0">
                <a:solidFill>
                  <a:srgbClr val="B0C4DE"/>
                </a:solidFill>
                <a:latin typeface="Calibri"/>
              </a:rPr>
              <a:t>Solo BiLSTM, </a:t>
            </a:r>
            <a:r>
              <a:rPr lang="es-CL" sz="1000" b="0" i="0" noProof="0" dirty="0" err="1">
                <a:solidFill>
                  <a:srgbClr val="B0C4DE"/>
                </a:solidFill>
                <a:latin typeface="Calibri"/>
              </a:rPr>
              <a:t>Distilber</a:t>
            </a:r>
            <a:r>
              <a:rPr lang="es-CL" sz="1000" b="0" i="0" noProof="0" dirty="0">
                <a:solidFill>
                  <a:srgbClr val="B0C4DE"/>
                </a:solidFill>
                <a:latin typeface="Calibri"/>
              </a:rPr>
              <a:t> solo extrae caracteristicas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371600"/>
            <a:ext cx="4005072" cy="27432"/>
          </a:xfrm>
          <a:prstGeom prst="rect">
            <a:avLst/>
          </a:prstGeom>
          <a:solidFill>
            <a:srgbClr val="355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292608" y="1466525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 err="1">
                <a:solidFill>
                  <a:schemeClr val="bg1"/>
                </a:solidFill>
                <a:latin typeface="Calibri"/>
              </a:rPr>
              <a:t>Epochs</a:t>
            </a:r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: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" y="1813997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LR (BiLSTM + head): 0.001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" y="2161469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Weight </a:t>
            </a:r>
            <a:r>
              <a:rPr lang="es-CL" sz="1100" b="1" i="0" noProof="0" dirty="0" err="1">
                <a:solidFill>
                  <a:schemeClr val="bg1"/>
                </a:solidFill>
                <a:latin typeface="Calibri"/>
              </a:rPr>
              <a:t>Decay</a:t>
            </a:r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: 0.01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" y="2508941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Grad Clip: 1,0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7" y="2815393"/>
            <a:ext cx="260991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100" b="1" i="0" noProof="0" dirty="0" err="1">
                <a:solidFill>
                  <a:schemeClr val="bg1"/>
                </a:solidFill>
                <a:latin typeface="Calibri"/>
              </a:rPr>
              <a:t>Scheduler</a:t>
            </a:r>
            <a:r>
              <a:rPr lang="es-CL" sz="1100" b="1" i="0" noProof="0" dirty="0">
                <a:solidFill>
                  <a:srgbClr val="B0C4DE"/>
                </a:solidFill>
                <a:latin typeface="Calibri"/>
              </a:rPr>
              <a:t>: </a:t>
            </a:r>
            <a:r>
              <a:rPr lang="es-CL" sz="1100" b="1" dirty="0" err="1">
                <a:solidFill>
                  <a:schemeClr val="bg1"/>
                </a:solidFill>
              </a:rPr>
              <a:t>Warmup</a:t>
            </a:r>
            <a:r>
              <a:rPr lang="es-CL" sz="1100" b="1" dirty="0">
                <a:solidFill>
                  <a:srgbClr val="FFFFFF"/>
                </a:solidFill>
              </a:rPr>
              <a:t> 10% + </a:t>
            </a:r>
            <a:r>
              <a:rPr lang="es-CL" sz="1100" b="1" dirty="0" err="1">
                <a:solidFill>
                  <a:srgbClr val="FFFFFF"/>
                </a:solidFill>
              </a:rPr>
              <a:t>Decay</a:t>
            </a:r>
            <a:r>
              <a:rPr lang="es-CL" sz="1100" b="1" dirty="0">
                <a:solidFill>
                  <a:srgbClr val="FFFFFF"/>
                </a:solidFill>
              </a:rPr>
              <a:t> lineal</a:t>
            </a:r>
          </a:p>
          <a:p>
            <a:pPr algn="l"/>
            <a:endParaRPr lang="es-CL" sz="1100" b="1" i="0" noProof="0" dirty="0">
              <a:solidFill>
                <a:srgbClr val="B0C4DE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92607" y="3175770"/>
            <a:ext cx="349661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Objetivo: </a:t>
            </a:r>
            <a:r>
              <a:rPr lang="es-CL" sz="1100" b="1" dirty="0">
                <a:solidFill>
                  <a:schemeClr val="bg1"/>
                </a:solidFill>
              </a:rPr>
              <a:t>Estabilizar BiLSTM antes del fine-</a:t>
            </a:r>
            <a:r>
              <a:rPr lang="es-CL" sz="1100" b="1" dirty="0" err="1">
                <a:solidFill>
                  <a:schemeClr val="bg1"/>
                </a:solidFill>
              </a:rPr>
              <a:t>tuning</a:t>
            </a:r>
            <a:endParaRPr lang="es-CL" sz="1100" b="1" dirty="0">
              <a:solidFill>
                <a:schemeClr val="bg1"/>
              </a:solidFill>
            </a:endParaRPr>
          </a:p>
          <a:p>
            <a:pPr algn="l"/>
            <a:endParaRPr lang="es-CL" sz="1100" b="1" i="0" noProof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882896" y="877824"/>
            <a:ext cx="4005072" cy="3127248"/>
          </a:xfrm>
          <a:prstGeom prst="rect">
            <a:avLst/>
          </a:prstGeom>
          <a:solidFill>
            <a:srgbClr val="1A5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7" name="Rectangle 26"/>
          <p:cNvSpPr/>
          <p:nvPr/>
        </p:nvSpPr>
        <p:spPr>
          <a:xfrm>
            <a:off x="4882896" y="877824"/>
            <a:ext cx="4005072" cy="329184"/>
          </a:xfrm>
          <a:prstGeom prst="rect">
            <a:avLst/>
          </a:prstGeom>
          <a:solidFill>
            <a:srgbClr val="123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8" name="TextBox 27"/>
          <p:cNvSpPr txBox="1"/>
          <p:nvPr/>
        </p:nvSpPr>
        <p:spPr>
          <a:xfrm>
            <a:off x="5010912" y="905256"/>
            <a:ext cx="37673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FFFFFF"/>
                </a:solidFill>
                <a:latin typeface="Calibri"/>
              </a:rPr>
              <a:t>FASE 2 — </a:t>
            </a:r>
            <a:r>
              <a:rPr lang="es-CL" sz="1200" b="1" dirty="0">
                <a:solidFill>
                  <a:srgbClr val="FFFFFF"/>
                </a:solidFill>
                <a:latin typeface="Calibri"/>
              </a:rPr>
              <a:t>Entrenamiento </a:t>
            </a:r>
            <a:r>
              <a:rPr lang="es-CL" sz="1200" b="1" i="0" noProof="0" dirty="0">
                <a:solidFill>
                  <a:srgbClr val="FFFFFF"/>
                </a:solidFill>
                <a:latin typeface="Calibri"/>
              </a:rPr>
              <a:t>completo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10912" y="1170432"/>
            <a:ext cx="3767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000" b="0" i="0" noProof="0" dirty="0">
                <a:solidFill>
                  <a:srgbClr val="B0D4B0"/>
                </a:solidFill>
                <a:latin typeface="Calibri"/>
              </a:rPr>
              <a:t>Red completa entrenada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82896" y="1371600"/>
            <a:ext cx="4005072" cy="27432"/>
          </a:xfrm>
          <a:prstGeom prst="rect">
            <a:avLst/>
          </a:prstGeom>
          <a:solidFill>
            <a:srgbClr val="288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1" name="TextBox 30"/>
          <p:cNvSpPr txBox="1"/>
          <p:nvPr/>
        </p:nvSpPr>
        <p:spPr>
          <a:xfrm>
            <a:off x="4914900" y="1473654"/>
            <a:ext cx="2011680" cy="4231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100" b="1" i="0" noProof="0" dirty="0" err="1">
                <a:solidFill>
                  <a:schemeClr val="bg1"/>
                </a:solidFill>
                <a:latin typeface="Calibri"/>
              </a:rPr>
              <a:t>Epochs</a:t>
            </a:r>
            <a:r>
              <a:rPr lang="es-CL" sz="1050" b="1" dirty="0">
                <a:solidFill>
                  <a:schemeClr val="bg1"/>
                </a:solidFill>
              </a:rPr>
              <a:t>: 8  con </a:t>
            </a:r>
            <a:r>
              <a:rPr lang="es-CL" sz="1050" b="1" dirty="0" err="1">
                <a:solidFill>
                  <a:schemeClr val="bg1"/>
                </a:solidFill>
              </a:rPr>
              <a:t>early</a:t>
            </a:r>
            <a:r>
              <a:rPr lang="es-CL" sz="1050" b="1" dirty="0">
                <a:solidFill>
                  <a:schemeClr val="bg1"/>
                </a:solidFill>
              </a:rPr>
              <a:t> </a:t>
            </a:r>
            <a:r>
              <a:rPr lang="es-CL" sz="1050" b="1" dirty="0" err="1">
                <a:solidFill>
                  <a:schemeClr val="bg1"/>
                </a:solidFill>
              </a:rPr>
              <a:t>stopping</a:t>
            </a:r>
            <a:endParaRPr lang="es-CL" sz="1050" b="1" dirty="0">
              <a:solidFill>
                <a:schemeClr val="bg1"/>
              </a:solidFill>
            </a:endParaRPr>
          </a:p>
          <a:p>
            <a:pPr algn="l"/>
            <a:endParaRPr lang="es-CL" sz="1050" b="1" i="0" noProof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914899" y="1875990"/>
            <a:ext cx="24695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LR full </a:t>
            </a:r>
            <a:r>
              <a:rPr lang="es-CL" sz="1100" b="1" i="0" noProof="0" dirty="0" err="1">
                <a:solidFill>
                  <a:schemeClr val="bg1"/>
                </a:solidFill>
                <a:latin typeface="Calibri"/>
              </a:rPr>
              <a:t>network</a:t>
            </a:r>
            <a:r>
              <a:rPr lang="es-CL" sz="1100" b="1" dirty="0">
                <a:solidFill>
                  <a:schemeClr val="bg1"/>
                </a:solidFill>
              </a:rPr>
              <a:t>: 2 x 10^-5  (muy bajo)</a:t>
            </a:r>
          </a:p>
          <a:p>
            <a:pPr algn="l"/>
            <a:endParaRPr lang="es-CL" sz="1100" b="1" i="0" noProof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914899" y="2278326"/>
            <a:ext cx="241415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Layer-</a:t>
            </a:r>
            <a:r>
              <a:rPr lang="es-CL" sz="1100" b="1" i="0" noProof="0" dirty="0" err="1">
                <a:solidFill>
                  <a:schemeClr val="bg1"/>
                </a:solidFill>
                <a:latin typeface="Calibri"/>
              </a:rPr>
              <a:t>wise</a:t>
            </a:r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 LR </a:t>
            </a:r>
            <a:r>
              <a:rPr lang="es-CL" sz="1100" b="1" i="0" noProof="0" dirty="0" err="1">
                <a:solidFill>
                  <a:schemeClr val="bg1"/>
                </a:solidFill>
                <a:latin typeface="Calibri"/>
              </a:rPr>
              <a:t>decay</a:t>
            </a:r>
            <a:r>
              <a:rPr lang="es-CL" sz="1100" b="1" dirty="0">
                <a:solidFill>
                  <a:schemeClr val="bg1"/>
                </a:solidFill>
              </a:rPr>
              <a:t>: 0.9 por capa </a:t>
            </a:r>
            <a:endParaRPr lang="es-CL" sz="1100" b="1" i="0" noProof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914899" y="2680662"/>
            <a:ext cx="25457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Early stop </a:t>
            </a:r>
            <a:r>
              <a:rPr lang="es-CL" sz="1100" b="1" dirty="0">
                <a:solidFill>
                  <a:schemeClr val="bg1"/>
                </a:solidFill>
              </a:rPr>
              <a:t>en: </a:t>
            </a:r>
            <a:r>
              <a:rPr lang="es-CL" sz="1100" b="1" dirty="0" err="1">
                <a:solidFill>
                  <a:schemeClr val="bg1"/>
                </a:solidFill>
              </a:rPr>
              <a:t>val_accuracy</a:t>
            </a:r>
            <a:r>
              <a:rPr lang="es-CL" sz="1100" b="1" dirty="0">
                <a:solidFill>
                  <a:schemeClr val="bg1"/>
                </a:solidFill>
              </a:rPr>
              <a:t>  (</a:t>
            </a:r>
            <a:r>
              <a:rPr lang="es-CL" sz="1100" b="1" dirty="0" err="1">
                <a:solidFill>
                  <a:schemeClr val="bg1"/>
                </a:solidFill>
              </a:rPr>
              <a:t>patience</a:t>
            </a:r>
            <a:r>
              <a:rPr lang="es-CL" sz="1100" b="1" dirty="0">
                <a:solidFill>
                  <a:schemeClr val="bg1"/>
                </a:solidFill>
              </a:rPr>
              <a:t>=2)</a:t>
            </a:r>
          </a:p>
          <a:p>
            <a:pPr algn="l"/>
            <a:endParaRPr lang="es-CL" sz="1100" b="1" i="0" noProof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914900" y="3082998"/>
            <a:ext cx="20116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Grad Clip: 1.0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56032" y="4114800"/>
            <a:ext cx="8631936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2" name="Rectangle 41"/>
          <p:cNvSpPr/>
          <p:nvPr/>
        </p:nvSpPr>
        <p:spPr>
          <a:xfrm>
            <a:off x="256032" y="4114800"/>
            <a:ext cx="73152" cy="7132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3" name="TextBox 42"/>
          <p:cNvSpPr txBox="1"/>
          <p:nvPr/>
        </p:nvSpPr>
        <p:spPr>
          <a:xfrm>
            <a:off x="420624" y="4151376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dirty="0">
                <a:solidFill>
                  <a:srgbClr val="1B3A6B"/>
                </a:solidFill>
                <a:latin typeface="Calibri"/>
              </a:rPr>
              <a:t>S</a:t>
            </a:r>
            <a:r>
              <a:rPr lang="es-CL" sz="1100" b="1" i="0" noProof="0" dirty="0">
                <a:solidFill>
                  <a:srgbClr val="1B3A6B"/>
                </a:solidFill>
                <a:latin typeface="Calibri"/>
              </a:rPr>
              <a:t>elección de hiperparametros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2336" y="4364583"/>
            <a:ext cx="83210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Los valores de LR, 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dropout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, 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lstm_hidden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y batch_size se determinaron experimentalmente: se probaron varias configuraciones hasta dar con las que maximizaron la 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accuracy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en validación, en ambos caso se uso un 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batch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size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de 8.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32520" y="4919472"/>
            <a:ext cx="347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CL" sz="900" b="0" i="0" noProof="0" dirty="0">
                <a:solidFill>
                  <a:srgbClr val="55657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292608" y="73152"/>
            <a:ext cx="85587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2000" b="1" i="0" noProof="0" dirty="0">
                <a:solidFill>
                  <a:srgbClr val="FFFFFF"/>
                </a:solidFill>
                <a:latin typeface="Calibri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457200"/>
            <a:ext cx="85587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000" b="0" i="1" noProof="0" dirty="0">
                <a:solidFill>
                  <a:srgbClr val="B0C4DE"/>
                </a:solidFill>
                <a:latin typeface="Calibri"/>
              </a:rPr>
              <a:t>Métricas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6" name="Rectangle 5"/>
          <p:cNvSpPr/>
          <p:nvPr/>
        </p:nvSpPr>
        <p:spPr>
          <a:xfrm>
            <a:off x="256032" y="868680"/>
            <a:ext cx="1993392" cy="896112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256032" y="923544"/>
            <a:ext cx="1993392" cy="492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2400" b="1" i="0" noProof="0" dirty="0">
                <a:solidFill>
                  <a:srgbClr val="1B3A6B"/>
                </a:solidFill>
                <a:latin typeface="Calibri"/>
              </a:rPr>
              <a:t>91.82%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361541"/>
            <a:ext cx="19933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Accuracy / F1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868680"/>
            <a:ext cx="1993392" cy="896112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2377440" y="923544"/>
            <a:ext cx="1993392" cy="492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2400" b="1" i="0" noProof="0" dirty="0">
                <a:solidFill>
                  <a:srgbClr val="2E7D32"/>
                </a:solidFill>
                <a:latin typeface="Calibri"/>
              </a:rPr>
              <a:t>97.42%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1361541"/>
            <a:ext cx="19933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ROC-AUC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8848" y="868680"/>
            <a:ext cx="1993392" cy="896112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4498848" y="923544"/>
            <a:ext cx="1993392" cy="492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2400" b="1" i="0" noProof="0" dirty="0">
                <a:solidFill>
                  <a:srgbClr val="1B3A6B"/>
                </a:solidFill>
                <a:latin typeface="Calibri"/>
              </a:rPr>
              <a:t>2,739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1361541"/>
            <a:ext cx="19933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Clasificaciones correctas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0256" y="868680"/>
            <a:ext cx="1993392" cy="896112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6620256" y="923544"/>
            <a:ext cx="1993392" cy="492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2400" b="1" i="0" noProof="0" dirty="0">
                <a:solidFill>
                  <a:srgbClr val="8B0000"/>
                </a:solidFill>
                <a:latin typeface="Calibri"/>
              </a:rPr>
              <a:t>244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0256" y="1361541"/>
            <a:ext cx="19933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Errores (8.18%)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" y="1874520"/>
            <a:ext cx="41605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Métricas por clase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1572497"/>
              </p:ext>
            </p:extLst>
          </p:nvPr>
        </p:nvGraphicFramePr>
        <p:xfrm>
          <a:off x="256032" y="2139696"/>
          <a:ext cx="416052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es-CL" sz="105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Clase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Precisión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1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  <a:endParaRPr lang="es-CL" sz="1050" b="1" noProof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es-CL" sz="1050" b="1" noProof="0" dirty="0">
                          <a:solidFill>
                            <a:srgbClr val="1A1A2E"/>
                          </a:solidFill>
                          <a:latin typeface="Calibri"/>
                        </a:rPr>
                        <a:t>Negativa</a:t>
                      </a:r>
                    </a:p>
                  </a:txBody>
                  <a:tcPr>
                    <a:solidFill>
                      <a:srgbClr val="E8EE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0" noProof="0" dirty="0">
                          <a:solidFill>
                            <a:srgbClr val="1A1A2E"/>
                          </a:solidFill>
                          <a:latin typeface="Calibri"/>
                        </a:rPr>
                        <a:t>92.4%</a:t>
                      </a:r>
                    </a:p>
                  </a:txBody>
                  <a:tcPr>
                    <a:solidFill>
                      <a:srgbClr val="E8EE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0" noProof="0" dirty="0">
                          <a:solidFill>
                            <a:srgbClr val="1A1A2E"/>
                          </a:solidFill>
                          <a:latin typeface="Calibri"/>
                        </a:rPr>
                        <a:t>91.1%</a:t>
                      </a:r>
                    </a:p>
                  </a:txBody>
                  <a:tcPr>
                    <a:solidFill>
                      <a:srgbClr val="E8EE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0" noProof="0" dirty="0">
                          <a:solidFill>
                            <a:srgbClr val="1A1A2E"/>
                          </a:solidFill>
                          <a:latin typeface="Calibri"/>
                        </a:rPr>
                        <a:t>91.8%</a:t>
                      </a:r>
                    </a:p>
                  </a:txBody>
                  <a:tcPr>
                    <a:solidFill>
                      <a:srgbClr val="E8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es-CL" sz="1050" b="1" noProof="0" dirty="0">
                          <a:solidFill>
                            <a:srgbClr val="1A1A2E"/>
                          </a:solidFill>
                          <a:latin typeface="Calibri"/>
                        </a:rPr>
                        <a:t>Positiva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0" noProof="0" dirty="0">
                          <a:solidFill>
                            <a:srgbClr val="1A1A2E"/>
                          </a:solidFill>
                          <a:latin typeface="Calibri"/>
                        </a:rPr>
                        <a:t>91.2%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0" noProof="0" dirty="0">
                          <a:solidFill>
                            <a:srgbClr val="1A1A2E"/>
                          </a:solidFill>
                          <a:latin typeface="Calibri"/>
                        </a:rPr>
                        <a:t>92.6%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0" noProof="0" dirty="0">
                          <a:solidFill>
                            <a:srgbClr val="1A1A2E"/>
                          </a:solidFill>
                          <a:latin typeface="Calibri"/>
                        </a:rPr>
                        <a:t>91.9%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256032" y="3145536"/>
            <a:ext cx="4160520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1" name="Rectangle 20"/>
          <p:cNvSpPr/>
          <p:nvPr/>
        </p:nvSpPr>
        <p:spPr>
          <a:xfrm>
            <a:off x="256032" y="3145536"/>
            <a:ext cx="73152" cy="170078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420624" y="3182112"/>
            <a:ext cx="3858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1B3A6B"/>
                </a:solidFill>
                <a:latin typeface="Calibri"/>
              </a:rPr>
              <a:t>Análisis de errores — 244 casos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" y="3419856"/>
            <a:ext cx="4160520" cy="27432"/>
          </a:xfrm>
          <a:prstGeom prst="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4" name="TextBox 23"/>
          <p:cNvSpPr txBox="1"/>
          <p:nvPr/>
        </p:nvSpPr>
        <p:spPr>
          <a:xfrm>
            <a:off x="384048" y="3474720"/>
            <a:ext cx="3886200" cy="13260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133 falsos positivos: negativas clasificadas como positivas</a:t>
            </a:r>
          </a:p>
          <a:p>
            <a:pPr algn="l">
              <a:spcBef>
                <a:spcPts val="400"/>
              </a:spcBef>
            </a:pPr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111 falsos negativos: positivas clasificadas como negativas</a:t>
            </a:r>
          </a:p>
          <a:p>
            <a:pPr algn="l">
              <a:spcBef>
                <a:spcPts val="400"/>
              </a:spcBef>
            </a:pPr>
            <a:r>
              <a:rPr lang="es-CL" sz="1100" b="1" i="0" noProof="0" dirty="0">
                <a:solidFill>
                  <a:srgbClr val="00B050"/>
                </a:solidFill>
                <a:latin typeface="Calibri"/>
              </a:rPr>
              <a:t>Patrones detectados en test_errors.csv</a:t>
            </a:r>
          </a:p>
          <a:p>
            <a:pPr marL="171450" indent="-1714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 Ironía y sarcasmo sin marcadores explícitos</a:t>
            </a:r>
          </a:p>
          <a:p>
            <a:pPr marL="171450" indent="-1714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 Resenas mixtas con argumentos de ambos sentimientos</a:t>
            </a:r>
          </a:p>
          <a:p>
            <a:pPr marL="171450" indent="-1714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 Textos muy cortos con vocabulario ambiguo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24153" y="2025023"/>
            <a:ext cx="41605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Matriz de Confusión</a:t>
            </a:r>
          </a:p>
        </p:txBody>
      </p:sp>
      <p:pic>
        <p:nvPicPr>
          <p:cNvPr id="26" name="Picture 25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3294" y="2314342"/>
            <a:ext cx="3433924" cy="225875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732520" y="4919472"/>
            <a:ext cx="347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CL" sz="900" b="0" i="0" noProof="0" dirty="0">
                <a:solidFill>
                  <a:srgbClr val="55657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5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128016" y="155453"/>
            <a:ext cx="855878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2000" b="1" i="0" noProof="0" dirty="0">
                <a:solidFill>
                  <a:srgbClr val="FFFFFF"/>
                </a:solidFill>
                <a:latin typeface="Calibri"/>
              </a:rPr>
              <a:t>Limitaciones, Posibles mejoras y uso de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9" name="Rectangle 8"/>
          <p:cNvSpPr/>
          <p:nvPr/>
        </p:nvSpPr>
        <p:spPr>
          <a:xfrm>
            <a:off x="128016" y="1051560"/>
            <a:ext cx="2834640" cy="2302625"/>
          </a:xfrm>
          <a:prstGeom prst="rect">
            <a:avLst/>
          </a:prstGeom>
          <a:solidFill>
            <a:srgbClr val="1C3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0" name="Rectangle 9"/>
          <p:cNvSpPr/>
          <p:nvPr/>
        </p:nvSpPr>
        <p:spPr>
          <a:xfrm>
            <a:off x="128016" y="1051560"/>
            <a:ext cx="2834640" cy="347472"/>
          </a:xfrm>
          <a:prstGeom prst="rect">
            <a:avLst/>
          </a:prstGeom>
          <a:solidFill>
            <a:srgbClr val="D4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219456" y="1078992"/>
            <a:ext cx="2633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FFFFFF"/>
                </a:solidFill>
                <a:latin typeface="Calibri"/>
              </a:rPr>
              <a:t>LIMITACIONES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" y="1472184"/>
            <a:ext cx="2596896" cy="1118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FFFFFF"/>
                </a:solidFill>
                <a:latin typeface="Calibri"/>
              </a:rPr>
              <a:t>Clasificación binaria no captura bien  matices</a:t>
            </a:r>
          </a:p>
          <a:p>
            <a:pPr marL="171450" indent="-1714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FFFFFF"/>
                </a:solidFill>
                <a:latin typeface="Calibri"/>
              </a:rPr>
              <a:t>Dataset principalmente en ingles</a:t>
            </a:r>
          </a:p>
          <a:p>
            <a:pPr marL="171450" indent="-1714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FFFFFF"/>
                </a:solidFill>
                <a:latin typeface="Calibri"/>
              </a:rPr>
              <a:t>Ironía y sarcasmo siguen siendo el mayor error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72384" y="1051560"/>
            <a:ext cx="2834640" cy="2302625"/>
          </a:xfrm>
          <a:prstGeom prst="rect">
            <a:avLst/>
          </a:prstGeom>
          <a:solidFill>
            <a:srgbClr val="1C3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4" name="Rectangle 13"/>
          <p:cNvSpPr/>
          <p:nvPr/>
        </p:nvSpPr>
        <p:spPr>
          <a:xfrm>
            <a:off x="3072384" y="1051560"/>
            <a:ext cx="2834640" cy="347472"/>
          </a:xfrm>
          <a:prstGeom prst="rect">
            <a:avLst/>
          </a:prstGeom>
          <a:solidFill>
            <a:srgbClr val="0D79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3163824" y="1078992"/>
            <a:ext cx="2633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dirty="0">
                <a:solidFill>
                  <a:srgbClr val="FFFFFF"/>
                </a:solidFill>
                <a:latin typeface="Calibri"/>
              </a:rPr>
              <a:t>Posibles mejoras</a:t>
            </a:r>
            <a:endParaRPr lang="es-CL" sz="1200" b="1" i="0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072384" y="1499616"/>
            <a:ext cx="2671433" cy="1467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FFFFFF"/>
                </a:solidFill>
                <a:latin typeface="Calibri"/>
              </a:rPr>
              <a:t>Clasificación multiclase (escala 1-10)</a:t>
            </a:r>
          </a:p>
          <a:p>
            <a:pPr marL="171450" indent="-1714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FFFFFF"/>
                </a:solidFill>
                <a:latin typeface="Calibri"/>
              </a:rPr>
              <a:t>Modelos mayores: BERT-base, </a:t>
            </a:r>
            <a:r>
              <a:rPr lang="es-CL" sz="1100" b="1" i="0" noProof="0" dirty="0" err="1">
                <a:solidFill>
                  <a:srgbClr val="FFFFFF"/>
                </a:solidFill>
                <a:latin typeface="Calibri"/>
              </a:rPr>
              <a:t>RoBERTa</a:t>
            </a:r>
            <a:r>
              <a:rPr lang="es-CL" sz="1100" b="1" i="0" noProof="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171450" indent="-1714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FFFFFF"/>
                </a:solidFill>
                <a:latin typeface="Calibri"/>
              </a:rPr>
              <a:t>Soporte multilingüe (reseñas en español)</a:t>
            </a:r>
          </a:p>
          <a:p>
            <a:pPr marL="171450" indent="-1714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FFFFFF"/>
                </a:solidFill>
                <a:latin typeface="Calibri"/>
              </a:rPr>
              <a:t>Aumentación con back-</a:t>
            </a:r>
            <a:r>
              <a:rPr lang="es-CL" sz="1100" b="1" i="0" noProof="0" dirty="0" err="1">
                <a:solidFill>
                  <a:srgbClr val="FFFFFF"/>
                </a:solidFill>
                <a:latin typeface="Calibri"/>
              </a:rPr>
              <a:t>translation</a:t>
            </a:r>
            <a:endParaRPr lang="es-CL" sz="1100" b="1" i="0" noProof="0" dirty="0">
              <a:solidFill>
                <a:srgbClr val="FFFFFF"/>
              </a:solidFill>
              <a:latin typeface="Calibri"/>
            </a:endParaRPr>
          </a:p>
          <a:p>
            <a:pPr marL="171450" indent="-1714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FFFFFF"/>
                </a:solidFill>
                <a:latin typeface="Calibri"/>
              </a:rPr>
              <a:t>Evaluación en </a:t>
            </a:r>
            <a:r>
              <a:rPr lang="es-CL" sz="1100" b="1" i="0" noProof="0" dirty="0" err="1">
                <a:solidFill>
                  <a:srgbClr val="FFFFFF"/>
                </a:solidFill>
                <a:latin typeface="Calibri"/>
              </a:rPr>
              <a:t>IMDb</a:t>
            </a:r>
            <a:r>
              <a:rPr lang="es-CL" sz="1100" b="1" i="0" noProof="0" dirty="0">
                <a:solidFill>
                  <a:srgbClr val="FFFFFF"/>
                </a:solidFill>
                <a:latin typeface="Calibri"/>
              </a:rPr>
              <a:t> y similares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4919472"/>
            <a:ext cx="347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CL" sz="900" b="0" i="0" noProof="0" dirty="0">
                <a:solidFill>
                  <a:srgbClr val="55657A"/>
                </a:solidFill>
                <a:latin typeface="Calibri"/>
              </a:rPr>
              <a:t>10</a:t>
            </a:r>
          </a:p>
        </p:txBody>
      </p:sp>
      <p:sp>
        <p:nvSpPr>
          <p:cNvPr id="20" name="Rectangle 12">
            <a:extLst>
              <a:ext uri="{FF2B5EF4-FFF2-40B4-BE49-F238E27FC236}">
                <a16:creationId xmlns:a16="http://schemas.microsoft.com/office/drawing/2014/main" id="{D5D8585E-B1E2-40AC-4B8D-506B7B840697}"/>
              </a:ext>
            </a:extLst>
          </p:cNvPr>
          <p:cNvSpPr/>
          <p:nvPr/>
        </p:nvSpPr>
        <p:spPr>
          <a:xfrm>
            <a:off x="6016752" y="1051560"/>
            <a:ext cx="2834640" cy="2302625"/>
          </a:xfrm>
          <a:prstGeom prst="rect">
            <a:avLst/>
          </a:prstGeom>
          <a:solidFill>
            <a:srgbClr val="1C3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1" name="Rectangle 13">
            <a:extLst>
              <a:ext uri="{FF2B5EF4-FFF2-40B4-BE49-F238E27FC236}">
                <a16:creationId xmlns:a16="http://schemas.microsoft.com/office/drawing/2014/main" id="{D359B5CA-F21C-20F2-F935-FBC682023427}"/>
              </a:ext>
            </a:extLst>
          </p:cNvPr>
          <p:cNvSpPr/>
          <p:nvPr/>
        </p:nvSpPr>
        <p:spPr>
          <a:xfrm>
            <a:off x="6016752" y="1051560"/>
            <a:ext cx="2834640" cy="34747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>
              <a:solidFill>
                <a:srgbClr val="00B050"/>
              </a:solidFill>
            </a:endParaRPr>
          </a:p>
        </p:txBody>
      </p:sp>
      <p:sp>
        <p:nvSpPr>
          <p:cNvPr id="22" name="TextBox 14">
            <a:extLst>
              <a:ext uri="{FF2B5EF4-FFF2-40B4-BE49-F238E27FC236}">
                <a16:creationId xmlns:a16="http://schemas.microsoft.com/office/drawing/2014/main" id="{AE3DA2BC-BB6F-CF89-3F4F-31390C5CD8CA}"/>
              </a:ext>
            </a:extLst>
          </p:cNvPr>
          <p:cNvSpPr txBox="1"/>
          <p:nvPr/>
        </p:nvSpPr>
        <p:spPr>
          <a:xfrm>
            <a:off x="6108192" y="1078992"/>
            <a:ext cx="20898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dirty="0">
                <a:solidFill>
                  <a:srgbClr val="FFFFFF"/>
                </a:solidFill>
                <a:latin typeface="Calibri"/>
              </a:rPr>
              <a:t>Uso de </a:t>
            </a:r>
            <a:r>
              <a:rPr lang="es-CL" sz="1200" b="1" dirty="0" err="1">
                <a:solidFill>
                  <a:srgbClr val="FFFFFF"/>
                </a:solidFill>
                <a:latin typeface="Calibri"/>
              </a:rPr>
              <a:t>ia</a:t>
            </a:r>
            <a:endParaRPr lang="es-CL" sz="1200" b="1" i="0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3" name="TextBox 15">
            <a:extLst>
              <a:ext uri="{FF2B5EF4-FFF2-40B4-BE49-F238E27FC236}">
                <a16:creationId xmlns:a16="http://schemas.microsoft.com/office/drawing/2014/main" id="{65E5D598-88E6-4C1D-CA34-18A219EF458E}"/>
              </a:ext>
            </a:extLst>
          </p:cNvPr>
          <p:cNvSpPr txBox="1"/>
          <p:nvPr/>
        </p:nvSpPr>
        <p:spPr>
          <a:xfrm>
            <a:off x="6016752" y="1499616"/>
            <a:ext cx="2671433" cy="1197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s-MX" sz="1100" b="1" dirty="0">
                <a:solidFill>
                  <a:srgbClr val="FFFFFF"/>
                </a:solidFill>
                <a:latin typeface="Calibri"/>
              </a:rPr>
              <a:t>Claude Sonnet 4.5 para el desarrollo del código y estructura del proyecto, y el diseño de la presentación</a:t>
            </a:r>
          </a:p>
          <a:p>
            <a:pPr marL="171450" indent="-1714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s-MX" sz="1100" b="1" dirty="0">
                <a:solidFill>
                  <a:srgbClr val="FFFFFF"/>
                </a:solidFill>
                <a:latin typeface="Calibri"/>
              </a:rPr>
              <a:t>Google Gemini 3.1 pro para investigación del tema y generación de imágenes</a:t>
            </a:r>
          </a:p>
        </p:txBody>
      </p:sp>
      <p:sp>
        <p:nvSpPr>
          <p:cNvPr id="24" name="Rectangle 8">
            <a:extLst>
              <a:ext uri="{FF2B5EF4-FFF2-40B4-BE49-F238E27FC236}">
                <a16:creationId xmlns:a16="http://schemas.microsoft.com/office/drawing/2014/main" id="{8FD73117-87DC-8390-F13E-77C2D030B8E3}"/>
              </a:ext>
            </a:extLst>
          </p:cNvPr>
          <p:cNvSpPr/>
          <p:nvPr/>
        </p:nvSpPr>
        <p:spPr>
          <a:xfrm>
            <a:off x="128015" y="3501509"/>
            <a:ext cx="8069995" cy="447036"/>
          </a:xfrm>
          <a:prstGeom prst="rect">
            <a:avLst/>
          </a:prstGeom>
          <a:solidFill>
            <a:srgbClr val="1C3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F81C58CF-0EC6-4230-E204-9DEE454D0AD4}"/>
              </a:ext>
            </a:extLst>
          </p:cNvPr>
          <p:cNvSpPr txBox="1"/>
          <p:nvPr/>
        </p:nvSpPr>
        <p:spPr>
          <a:xfrm>
            <a:off x="128016" y="3520614"/>
            <a:ext cx="80699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lang="es-MX" sz="900" i="0" noProof="0" dirty="0">
                <a:solidFill>
                  <a:srgbClr val="FFFFFF"/>
                </a:solidFill>
                <a:latin typeface="Calibri"/>
              </a:rPr>
              <a:t>El proyecto fue desarrollado en un equipo con GPU NVIDIA RTX 4060 de 8 GB de VRAM, CPU AMD Ryzen 7 5700X y 16 GB de RAM, Windows 11. El desarrollo del código se realizó en Visual Studio Code y la interfaz interactiva fue implementada con </a:t>
            </a:r>
            <a:r>
              <a:rPr lang="es-MX" sz="900" i="0" noProof="0" dirty="0" err="1">
                <a:solidFill>
                  <a:srgbClr val="FFFFFF"/>
                </a:solidFill>
                <a:latin typeface="Calibri"/>
              </a:rPr>
              <a:t>Streamlit</a:t>
            </a:r>
            <a:r>
              <a:rPr lang="es-MX" sz="900" i="0" noProof="0" dirty="0">
                <a:solidFill>
                  <a:srgbClr val="FFFFFF"/>
                </a:solidFill>
                <a:latin typeface="Calibri"/>
              </a:rPr>
              <a:t>.</a:t>
            </a:r>
            <a:endParaRPr lang="es-CL" sz="900" i="0" noProof="0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1032</Words>
  <Application>Microsoft Office PowerPoint</Application>
  <PresentationFormat>Personalizado</PresentationFormat>
  <Paragraphs>171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DIEGO ERNESTO SILVA MADARIAGA</cp:lastModifiedBy>
  <cp:revision>38</cp:revision>
  <dcterms:created xsi:type="dcterms:W3CDTF">2013-01-27T09:14:16Z</dcterms:created>
  <dcterms:modified xsi:type="dcterms:W3CDTF">2026-05-26T04:38:05Z</dcterms:modified>
  <cp:category/>
</cp:coreProperties>
</file>